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-502920"/>
            <a:ext cx="4846320" cy="4846320"/>
          </a:xfrm>
          <a:prstGeom prst="ellipse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438912"/>
            <a:ext cx="2057400" cy="2057400"/>
          </a:xfrm>
          <a:prstGeom prst="ellipse">
            <a:avLst/>
          </a:prstGeom>
          <a:solidFill>
            <a:srgbClr val="BE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4069080"/>
            <a:ext cx="3017520" cy="3017520"/>
          </a:xfrm>
          <a:prstGeom prst="ellipse">
            <a:avLst/>
          </a:prstGeom>
          <a:solidFill>
            <a:srgbClr val="2D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0"/>
            <a:ext cx="109728" cy="6858000"/>
          </a:xfrm>
          <a:prstGeom prst="rect">
            <a:avLst/>
          </a:prstGeom>
          <a:solidFill>
            <a:srgbClr val="BE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31089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E6DAC7"/>
                </a:solidFill>
                <a:latin typeface="PingFang SC"/>
              </a:rPr>
              <a:t>30 分钟综合课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261872"/>
            <a:ext cx="4937760" cy="1234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PingFang SC"/>
              </a:rPr>
              <a:t>AI 工作提效入门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5303520" cy="640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0">
                <a:solidFill>
                  <a:srgbClr val="E1E4E7"/>
                </a:solidFill>
                <a:latin typeface="PingFang SC"/>
              </a:rPr>
              <a:t>产品、设计、研发都能立刻上手的方法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45720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E7D0BC"/>
                </a:solidFill>
                <a:latin typeface="PingFang SC"/>
              </a:rPr>
              <a:t>统一认知、统一方法、统一边界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730752"/>
            <a:ext cx="2697480" cy="347472"/>
          </a:xfrm>
          <a:prstGeom prst="roundRect">
            <a:avLst/>
          </a:prstGeom>
          <a:solidFill>
            <a:srgbClr val="BE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AI 值得在哪些工作里用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730752"/>
            <a:ext cx="2487168" cy="347472"/>
          </a:xfrm>
          <a:prstGeom prst="roundRect">
            <a:avLst/>
          </a:prstGeom>
          <a:solidFill>
            <a:srgbClr val="2D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不同角色各自怎么用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224528"/>
            <a:ext cx="2907792" cy="347472"/>
          </a:xfrm>
          <a:prstGeom prst="roundRect">
            <a:avLst/>
          </a:prstGeom>
          <a:solidFill>
            <a:srgbClr val="CA9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部门内使用 AI 的边界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3858768"/>
            <a:ext cx="3246120" cy="1536192"/>
          </a:xfrm>
          <a:prstGeom prst="roundRect">
            <a:avLst/>
          </a:prstGeom>
          <a:solidFill>
            <a:srgbClr val="FFFBF5"/>
          </a:solidFill>
          <a:ln>
            <a:solidFill>
              <a:srgbClr val="E2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E5C47"/>
                </a:solidFill>
                <a:latin typeface="PingFang SC"/>
              </a:rPr>
              <a:t>适用听众</a:t>
            </a:r>
          </a:p>
          <a:p>
            <a:r>
              <a:rPr sz="1600" b="1">
                <a:solidFill>
                  <a:srgbClr val="182635"/>
                </a:solidFill>
                <a:latin typeface="PingFang SC"/>
              </a:rPr>
              <a:t>产品经理 / 设计师 / 研发 / 少量管理者</a:t>
            </a:r>
          </a:p>
          <a:p>
            <a:r>
              <a:rPr sz="1200">
                <a:solidFill>
                  <a:srgbClr val="5C6772"/>
                </a:solidFill>
                <a:latin typeface="PingFang SC"/>
              </a:rPr>
              <a:t>统一案例：用户反馈“搜索功能不好用”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00800"/>
            <a:ext cx="4114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CDD2D6"/>
                </a:solidFill>
                <a:latin typeface="PingFang S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228600"/>
            <a:ext cx="2560320" cy="2560320"/>
          </a:xfrm>
          <a:prstGeom prst="ellipse">
            <a:avLst/>
          </a:prstGeom>
          <a:solidFill>
            <a:srgbClr val="BE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2801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BE5C47"/>
                </a:solidFill>
                <a:latin typeface="PingFang SC"/>
              </a:rPr>
              <a:t>第 2 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7863840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182635"/>
                </a:solidFill>
                <a:latin typeface="PingFang SC"/>
              </a:rPr>
              <a:t>为什么现在要学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0835640" cy="36576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051560" cy="310896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2635"/>
                </a:solidFill>
                <a:latin typeface="PingFang SC"/>
              </a:rPr>
              <a:t>2 分钟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72768"/>
            <a:ext cx="48006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1887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CA953D"/>
                </a:solidFill>
                <a:latin typeface="PingFang SC"/>
              </a:rPr>
              <a:t>过去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130552"/>
            <a:ext cx="3657600" cy="5669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182635"/>
                </a:solidFill>
                <a:latin typeface="PingFang SC"/>
              </a:rPr>
              <a:t>AI 更像
个人效率工具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4023360" cy="11887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5C6772"/>
                </a:solidFill>
                <a:latin typeface="PingFang SC"/>
              </a:rPr>
              <a:t>• 自己摸索，个人用个人的
• 重点是提速写初稿
• 信息仍然要手工在角色间传递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1572768"/>
            <a:ext cx="48006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828800"/>
            <a:ext cx="11887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2D7071"/>
                </a:solidFill>
                <a:latin typeface="PingFang SC"/>
              </a:rPr>
              <a:t>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130552"/>
            <a:ext cx="3931920" cy="5669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182635"/>
                </a:solidFill>
                <a:latin typeface="PingFang SC"/>
              </a:rPr>
              <a:t>AI 正在变成
协作基础设施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3154680"/>
            <a:ext cx="4114800" cy="11887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5C6772"/>
                </a:solidFill>
                <a:latin typeface="PingFang SC"/>
              </a:rPr>
              <a:t>• 更快整理上下文
• 更快形成可交接材料
• 更快推进产品、设计、研发协同</a:t>
            </a:r>
          </a:p>
        </p:txBody>
      </p:sp>
      <p:sp>
        <p:nvSpPr>
          <p:cNvPr id="15" name="Chevron 14"/>
          <p:cNvSpPr/>
          <p:nvPr/>
        </p:nvSpPr>
        <p:spPr>
          <a:xfrm>
            <a:off x="5596128" y="2743200"/>
            <a:ext cx="502920" cy="868680"/>
          </a:xfrm>
          <a:prstGeom prst="chevron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5989320"/>
            <a:ext cx="10835640" cy="457200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863C2F"/>
                </a:solidFill>
                <a:latin typeface="PingFang SC"/>
              </a:rPr>
              <a:t>结论：</a:t>
            </a:r>
            <a:r>
              <a:rPr sz="1400" b="1">
                <a:solidFill>
                  <a:srgbClr val="182635"/>
                </a:solidFill>
                <a:latin typeface="PingFang SC"/>
              </a:rPr>
              <a:t>AI 改变的不是某一个岗位，而是整个部门处理信息和交接任务的方式。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00800"/>
            <a:ext cx="4114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C6772"/>
                </a:solidFill>
                <a:latin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2801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B8453A"/>
                </a:solidFill>
                <a:latin typeface="PingFang SC"/>
              </a:rPr>
              <a:t>第 3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7863840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182635"/>
                </a:solidFill>
                <a:latin typeface="PingFang SC"/>
              </a:rPr>
              <a:t>AI 适合做什么，不适合直接放行什么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835640" cy="36576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78440" y="347472"/>
            <a:ext cx="1051560" cy="310896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2635"/>
                </a:solidFill>
                <a:latin typeface="PingFang SC"/>
              </a:rPr>
              <a:t>3 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72768"/>
            <a:ext cx="5303520" cy="4297680"/>
          </a:xfrm>
          <a:prstGeom prst="roundRect">
            <a:avLst/>
          </a:prstGeom>
          <a:solidFill>
            <a:srgbClr val="EC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44768" y="1572768"/>
            <a:ext cx="5303520" cy="4297680"/>
          </a:xfrm>
          <a:prstGeom prst="roundRect">
            <a:avLst/>
          </a:prstGeom>
          <a:solidFill>
            <a:srgbClr val="FB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47088"/>
            <a:ext cx="1828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5A855C"/>
                </a:solidFill>
                <a:latin typeface="PingFang SC"/>
              </a:rPr>
              <a:t>适合交给 AI 的工作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114800" cy="2148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182635"/>
                </a:solidFill>
                <a:latin typeface="PingFang SC"/>
              </a:rPr>
              <a:t>整理
归纳
初稿
对比
清单
复盘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47088"/>
            <a:ext cx="28346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B8453A"/>
                </a:solidFill>
                <a:latin typeface="PingFang SC"/>
              </a:rPr>
              <a:t>不适合直接放行的工作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343400" cy="2423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100" b="1">
                <a:solidFill>
                  <a:srgbClr val="182635"/>
                </a:solidFill>
                <a:latin typeface="PingFang SC"/>
              </a:rPr>
              <a:t>事实判断
业务拍板
敏感信息处理
最终设计 / 需求 / 代码决策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1808" y="2194560"/>
            <a:ext cx="1536192" cy="1536192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863C2F"/>
                </a:solidFill>
                <a:latin typeface="PingFang SC"/>
              </a:rPr>
              <a:t>先划
边界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989320"/>
            <a:ext cx="10835640" cy="457200"/>
          </a:xfrm>
          <a:prstGeom prst="roundRect">
            <a:avLst/>
          </a:prstGeom>
          <a:solidFill>
            <a:srgbClr val="FFF7F4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8453A"/>
                </a:solidFill>
                <a:latin typeface="PingFang SC"/>
              </a:rPr>
              <a:t>结论：</a:t>
            </a:r>
            <a:r>
              <a:rPr sz="1400" b="1">
                <a:solidFill>
                  <a:srgbClr val="182635"/>
                </a:solidFill>
                <a:latin typeface="PingFang SC"/>
              </a:rPr>
              <a:t>AI 可以帮你准备，但不能替你承担责任。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00800"/>
            <a:ext cx="4114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C6772"/>
                </a:solidFill>
                <a:latin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4892040"/>
            <a:ext cx="2651760" cy="2651760"/>
          </a:xfrm>
          <a:prstGeom prst="ellipse">
            <a:avLst/>
          </a:prstGeom>
          <a:solidFill>
            <a:srgbClr val="2D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2801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D7071"/>
                </a:solidFill>
                <a:latin typeface="PingFang SC"/>
              </a:rPr>
              <a:t>第 4 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7863840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182635"/>
                </a:solidFill>
                <a:latin typeface="PingFang SC"/>
              </a:rPr>
              <a:t>所有角色都通用的 5 段式输入法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0835640" cy="36576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051560" cy="310896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2635"/>
                </a:solidFill>
                <a:latin typeface="PingFang SC"/>
              </a:rPr>
              <a:t>2 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240280"/>
            <a:ext cx="9921240" cy="54864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600200"/>
            <a:ext cx="914400" cy="914400"/>
          </a:xfrm>
          <a:prstGeom prst="ellipse">
            <a:avLst/>
          </a:prstGeom>
          <a:solidFill>
            <a:srgbClr val="BE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18872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182635"/>
                </a:solidFill>
                <a:latin typeface="PingFang SC"/>
              </a:rPr>
              <a:t>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554480" cy="5669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5C6772"/>
                </a:solidFill>
                <a:latin typeface="PingFang SC"/>
              </a:rPr>
              <a:t>你想得到什么</a:t>
            </a:r>
          </a:p>
        </p:txBody>
      </p:sp>
      <p:sp>
        <p:nvSpPr>
          <p:cNvPr id="11" name="Oval 10"/>
          <p:cNvSpPr/>
          <p:nvPr/>
        </p:nvSpPr>
        <p:spPr>
          <a:xfrm>
            <a:off x="3063240" y="1600200"/>
            <a:ext cx="914400" cy="914400"/>
          </a:xfrm>
          <a:prstGeom prst="ellipse">
            <a:avLst/>
          </a:prstGeom>
          <a:solidFill>
            <a:srgbClr val="2D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651760"/>
            <a:ext cx="118872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182635"/>
                </a:solidFill>
                <a:latin typeface="PingFang SC"/>
              </a:rPr>
              <a:t>上下文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71800"/>
            <a:ext cx="1554480" cy="5669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5C6772"/>
                </a:solidFill>
                <a:latin typeface="PingFang SC"/>
              </a:rPr>
              <a:t>这件事发生在什么场景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1600200"/>
            <a:ext cx="914400" cy="914400"/>
          </a:xfrm>
          <a:prstGeom prst="ellipse">
            <a:avLst/>
          </a:prstGeom>
          <a:solidFill>
            <a:srgbClr val="CA9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51760"/>
            <a:ext cx="118872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182635"/>
                </a:solidFill>
                <a:latin typeface="PingFang SC"/>
              </a:rPr>
              <a:t>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971800"/>
            <a:ext cx="1554480" cy="5669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5C6772"/>
                </a:solidFill>
                <a:latin typeface="PingFang SC"/>
              </a:rPr>
              <a:t>哪些边界不能碰</a:t>
            </a:r>
          </a:p>
        </p:txBody>
      </p:sp>
      <p:sp>
        <p:nvSpPr>
          <p:cNvPr id="17" name="Oval 16"/>
          <p:cNvSpPr/>
          <p:nvPr/>
        </p:nvSpPr>
        <p:spPr>
          <a:xfrm>
            <a:off x="7269480" y="1600200"/>
            <a:ext cx="914400" cy="914400"/>
          </a:xfrm>
          <a:prstGeom prst="ellipse">
            <a:avLst/>
          </a:prstGeom>
          <a:solidFill>
            <a:srgbClr val="5A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651760"/>
            <a:ext cx="118872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182635"/>
                </a:solidFill>
                <a:latin typeface="PingFang SC"/>
              </a:rPr>
              <a:t>输出格式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971800"/>
            <a:ext cx="1554480" cy="5669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5C6772"/>
                </a:solidFill>
                <a:latin typeface="PingFang SC"/>
              </a:rPr>
              <a:t>希望它怎么呈现</a:t>
            </a:r>
          </a:p>
        </p:txBody>
      </p:sp>
      <p:sp>
        <p:nvSpPr>
          <p:cNvPr id="20" name="Oval 19"/>
          <p:cNvSpPr/>
          <p:nvPr/>
        </p:nvSpPr>
        <p:spPr>
          <a:xfrm>
            <a:off x="9372600" y="1600200"/>
            <a:ext cx="914400" cy="914400"/>
          </a:xfrm>
          <a:prstGeom prst="ellipse">
            <a:avLst/>
          </a:prstGeom>
          <a:solidFill>
            <a:srgbClr val="863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651760"/>
            <a:ext cx="118872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182635"/>
                </a:solidFill>
                <a:latin typeface="PingFang SC"/>
              </a:rPr>
              <a:t>参考样例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71800"/>
            <a:ext cx="1554480" cy="5669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5C6772"/>
                </a:solidFill>
                <a:latin typeface="PingFang SC"/>
              </a:rPr>
              <a:t>有没有现成材料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343400"/>
            <a:ext cx="10424160" cy="1051560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5657"/>
                </a:solidFill>
                <a:latin typeface="PingFang SC"/>
              </a:rPr>
              <a:t>示例输入</a:t>
            </a:r>
          </a:p>
          <a:p>
            <a:r>
              <a:rPr sz="1400">
                <a:solidFill>
                  <a:srgbClr val="182635"/>
                </a:solidFill>
                <a:latin typeface="PingFang SC"/>
              </a:rPr>
              <a:t>请把最近两周的搜索相关用户反馈整理成 3 类问题，并给出优先级建议。不要直接给解决方案，只输出问题分类表。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989320"/>
            <a:ext cx="10835640" cy="457200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5657"/>
                </a:solidFill>
                <a:latin typeface="PingFang SC"/>
              </a:rPr>
              <a:t>结论：</a:t>
            </a:r>
            <a:r>
              <a:rPr sz="1400" b="1">
                <a:solidFill>
                  <a:srgbClr val="182635"/>
                </a:solidFill>
                <a:latin typeface="PingFang SC"/>
              </a:rPr>
              <a:t>输入越完整，输出越稳定。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00800"/>
            <a:ext cx="4114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C6772"/>
                </a:solidFill>
                <a:latin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2801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A953D"/>
                </a:solidFill>
                <a:latin typeface="PingFang SC"/>
              </a:rPr>
              <a:t>第 5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7863840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182635"/>
                </a:solidFill>
                <a:latin typeface="PingFang SC"/>
              </a:rPr>
              <a:t>所有角色都通用的 4 步验收法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835640" cy="36576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78440" y="347472"/>
            <a:ext cx="1051560" cy="310896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2635"/>
                </a:solidFill>
                <a:latin typeface="PingFang SC"/>
              </a:rPr>
              <a:t>2 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08760"/>
            <a:ext cx="3200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847088"/>
            <a:ext cx="23774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CA953D"/>
                </a:solidFill>
                <a:latin typeface="PingFang SC"/>
              </a:rPr>
              <a:t>4 步验收法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212848"/>
            <a:ext cx="256032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182635"/>
                </a:solidFill>
                <a:latin typeface="PingFang SC"/>
              </a:rPr>
              <a:t>不要只看
“写得像不像”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429000"/>
            <a:ext cx="2560320" cy="1280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5C6772"/>
                </a:solidFill>
                <a:latin typeface="PingFang SC"/>
              </a:rPr>
              <a:t>要看：
• 有没有依据
• 有没有遗漏边界
• 能不能直接放行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45920"/>
            <a:ext cx="2743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16552" y="1828800"/>
            <a:ext cx="685800" cy="685800"/>
          </a:xfrm>
          <a:prstGeom prst="ellipse">
            <a:avLst/>
          </a:prstGeom>
          <a:solidFill>
            <a:srgbClr val="BE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01952"/>
            <a:ext cx="15544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82635"/>
                </a:solidFill>
                <a:latin typeface="PingFang SC"/>
              </a:rPr>
              <a:t>有无依据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304288"/>
            <a:ext cx="15544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5C6772"/>
                </a:solidFill>
                <a:latin typeface="PingFang SC"/>
              </a:rPr>
              <a:t>结论有没有来源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645920"/>
            <a:ext cx="2743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82712" y="1828800"/>
            <a:ext cx="685800" cy="685800"/>
          </a:xfrm>
          <a:prstGeom prst="ellipse">
            <a:avLst/>
          </a:prstGeom>
          <a:solidFill>
            <a:srgbClr val="2D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901952"/>
            <a:ext cx="15544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82635"/>
                </a:solidFill>
                <a:latin typeface="PingFang SC"/>
              </a:rPr>
              <a:t>边界完整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304288"/>
            <a:ext cx="15544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5C6772"/>
                </a:solidFill>
                <a:latin typeface="PingFang SC"/>
              </a:rPr>
              <a:t>有没有漏掉限制条件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794760"/>
            <a:ext cx="2743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6552" y="3977640"/>
            <a:ext cx="685800" cy="685800"/>
          </a:xfrm>
          <a:prstGeom prst="ellipse">
            <a:avLst/>
          </a:prstGeom>
          <a:solidFill>
            <a:srgbClr val="CA9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050792"/>
            <a:ext cx="15544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82635"/>
                </a:solidFill>
                <a:latin typeface="PingFang SC"/>
              </a:rPr>
              <a:t>格式正确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453128"/>
            <a:ext cx="15544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5C6772"/>
                </a:solidFill>
                <a:latin typeface="PingFang SC"/>
              </a:rPr>
              <a:t>是否真的符合要求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3794760"/>
            <a:ext cx="2743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82712" y="3977640"/>
            <a:ext cx="685800" cy="685800"/>
          </a:xfrm>
          <a:prstGeom prst="ellipse">
            <a:avLst/>
          </a:prstGeom>
          <a:solidFill>
            <a:srgbClr val="5A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050792"/>
            <a:ext cx="15544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82635"/>
                </a:solidFill>
                <a:latin typeface="PingFang SC"/>
              </a:rPr>
              <a:t>需要复核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453128"/>
            <a:ext cx="15544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5C6772"/>
                </a:solidFill>
                <a:latin typeface="PingFang SC"/>
              </a:rPr>
              <a:t>能不能直接放行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486400"/>
            <a:ext cx="10607040" cy="438912"/>
          </a:xfrm>
          <a:prstGeom prst="roundRect">
            <a:avLst/>
          </a:prstGeom>
          <a:solidFill>
            <a:srgbClr val="F9F3E0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82635"/>
                </a:solidFill>
                <a:latin typeface="PingFang SC"/>
              </a:rPr>
              <a:t>案例追问：如果 AI 说“搜索不好用是因为排序问题”，要继续问：依据是什么？有没有用户原话或数据？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989320"/>
            <a:ext cx="10835640" cy="457200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CA953D"/>
                </a:solidFill>
                <a:latin typeface="PingFang SC"/>
              </a:rPr>
              <a:t>结论：</a:t>
            </a:r>
            <a:r>
              <a:rPr sz="1400" b="1">
                <a:solidFill>
                  <a:srgbClr val="182635"/>
                </a:solidFill>
                <a:latin typeface="PingFang SC"/>
              </a:rPr>
              <a:t>验收不是研发专属动作，所有角色都需要。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00800"/>
            <a:ext cx="4114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C6772"/>
                </a:solidFill>
                <a:latin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2801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BE5C47"/>
                </a:solidFill>
                <a:latin typeface="PingFang SC"/>
              </a:rPr>
              <a:t>第 6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7863840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182635"/>
                </a:solidFill>
                <a:latin typeface="PingFang SC"/>
              </a:rPr>
              <a:t>产品经理怎么用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835640" cy="36576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78440" y="347472"/>
            <a:ext cx="1051560" cy="310896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2635"/>
                </a:solidFill>
                <a:latin typeface="PingFang SC"/>
              </a:rPr>
              <a:t>3 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261872"/>
            <a:ext cx="2743200" cy="4526280"/>
          </a:xfrm>
          <a:prstGeom prst="roundRect">
            <a:avLst/>
          </a:prstGeom>
          <a:solidFill>
            <a:srgbClr val="BE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72768"/>
            <a:ext cx="15544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</a:rPr>
              <a:t>角色页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182880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</a:rPr>
              <a:t>产品经理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78608"/>
            <a:ext cx="2148840" cy="1051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最适合让 AI 做
结构化整理
和边界补全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4069080"/>
            <a:ext cx="162763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E5C47"/>
                </a:solidFill>
                <a:latin typeface="PingFang SC"/>
              </a:rPr>
              <a:t>需求澄清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581144"/>
            <a:ext cx="162763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E5C47"/>
                </a:solidFill>
                <a:latin typeface="PingFang SC"/>
              </a:rPr>
              <a:t>反馈归类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5093208"/>
            <a:ext cx="162763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E5C47"/>
                </a:solidFill>
                <a:latin typeface="PingFang SC"/>
              </a:rPr>
              <a:t>验收草稿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55448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82635"/>
                </a:solidFill>
                <a:latin typeface="PingFang SC"/>
              </a:rPr>
              <a:t>需求澄清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C6772"/>
                </a:solidFill>
                <a:latin typeface="PingFang SC"/>
              </a:rPr>
              <a:t>把模糊想法整理成需求提纲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55448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82635"/>
                </a:solidFill>
                <a:latin typeface="PingFang SC"/>
              </a:rPr>
              <a:t>反馈归类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C6772"/>
                </a:solidFill>
                <a:latin typeface="PingFang SC"/>
              </a:rPr>
              <a:t>把工单和访谈归成问题类型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554480"/>
            <a:ext cx="2011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82635"/>
                </a:solidFill>
                <a:latin typeface="PingFang SC"/>
              </a:rPr>
              <a:t>竞品框架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C6772"/>
                </a:solidFill>
                <a:latin typeface="PingFang SC"/>
              </a:rPr>
              <a:t>先出对比结构，再人工补事实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61188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82635"/>
                </a:solidFill>
                <a:latin typeface="PingFang SC"/>
              </a:rPr>
              <a:t>验收标准草稿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C6772"/>
                </a:solidFill>
                <a:latin typeface="PingFang SC"/>
              </a:rPr>
              <a:t>先列边界和失败场景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611880"/>
            <a:ext cx="48920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82635"/>
                </a:solidFill>
                <a:latin typeface="PingFang SC"/>
              </a:rPr>
              <a:t>会议纪要行动项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C6772"/>
                </a:solidFill>
                <a:latin typeface="PingFang SC"/>
              </a:rPr>
              <a:t>自动拆成负责人和截止时间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3611880"/>
            <a:ext cx="2011680" cy="1554480"/>
          </a:xfrm>
          <a:prstGeom prst="roundRect">
            <a:avLst/>
          </a:prstGeom>
          <a:solidFill>
            <a:srgbClr val="FB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863C2F"/>
                </a:solidFill>
                <a:latin typeface="PingFang SC"/>
              </a:rPr>
              <a:t>统一案例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82635"/>
                </a:solidFill>
                <a:latin typeface="PingFang SC"/>
              </a:rPr>
              <a:t>把“搜索不好用”整理成：查不到 / 查不准 / 筛选难理解。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989320"/>
            <a:ext cx="10835640" cy="457200"/>
          </a:xfrm>
          <a:prstGeom prst="roundRect">
            <a:avLst/>
          </a:prstGeom>
          <a:solidFill>
            <a:srgbClr val="FFF5F1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863C2F"/>
                </a:solidFill>
                <a:latin typeface="PingFang SC"/>
              </a:rPr>
              <a:t>结论：</a:t>
            </a:r>
            <a:r>
              <a:rPr sz="1400" b="1">
                <a:solidFill>
                  <a:srgbClr val="182635"/>
                </a:solidFill>
                <a:latin typeface="PingFang SC"/>
              </a:rPr>
              <a:t>产品不应把需求判断直接外包给 AI。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00800"/>
            <a:ext cx="4114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C6772"/>
                </a:solidFill>
                <a:latin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2801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D7071"/>
                </a:solidFill>
                <a:latin typeface="PingFang SC"/>
              </a:rPr>
              <a:t>第 7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7863840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182635"/>
                </a:solidFill>
                <a:latin typeface="PingFang SC"/>
              </a:rPr>
              <a:t>设计师怎么用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835640" cy="36576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78440" y="347472"/>
            <a:ext cx="1051560" cy="310896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2635"/>
                </a:solidFill>
                <a:latin typeface="PingFang SC"/>
              </a:rPr>
              <a:t>3 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261872"/>
            <a:ext cx="2743200" cy="4526280"/>
          </a:xfrm>
          <a:prstGeom prst="roundRect">
            <a:avLst/>
          </a:prstGeom>
          <a:solidFill>
            <a:srgbClr val="2D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72768"/>
            <a:ext cx="15544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</a:rPr>
              <a:t>角色页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182880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</a:rPr>
              <a:t>设计师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78608"/>
            <a:ext cx="2148840" cy="1051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最适合把 AI 当
评审助手
和表达加速器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4069080"/>
            <a:ext cx="162763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7071"/>
                </a:solidFill>
                <a:latin typeface="PingFang SC"/>
              </a:rPr>
              <a:t>方向发散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581144"/>
            <a:ext cx="162763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7071"/>
                </a:solidFill>
                <a:latin typeface="PingFang SC"/>
              </a:rPr>
              <a:t>交互说明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5093208"/>
            <a:ext cx="162763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7071"/>
                </a:solidFill>
                <a:latin typeface="PingFang SC"/>
              </a:rPr>
              <a:t>评审清单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591056"/>
            <a:ext cx="7635240" cy="1024128"/>
          </a:xfrm>
          <a:prstGeom prst="roundRect">
            <a:avLst/>
          </a:prstGeom>
          <a:solidFill>
            <a:srgbClr val="EA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1920" y="1856231"/>
            <a:ext cx="1920240" cy="347472"/>
          </a:xfrm>
          <a:prstGeom prst="roundRect">
            <a:avLst/>
          </a:prstGeom>
          <a:solidFill>
            <a:srgbClr val="2D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方向发散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56231"/>
            <a:ext cx="1920240" cy="347472"/>
          </a:xfrm>
          <a:prstGeom prst="roundRect">
            <a:avLst/>
          </a:prstGeom>
          <a:solidFill>
            <a:srgbClr val="BE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交互说明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856231"/>
            <a:ext cx="1920240" cy="347472"/>
          </a:xfrm>
          <a:prstGeom prst="roundRect">
            <a:avLst/>
          </a:prstGeom>
          <a:solidFill>
            <a:srgbClr val="CA9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评审清单</a:t>
            </a:r>
          </a:p>
        </p:txBody>
      </p:sp>
      <p:sp>
        <p:nvSpPr>
          <p:cNvPr id="17" name="Chevron 16"/>
          <p:cNvSpPr/>
          <p:nvPr/>
        </p:nvSpPr>
        <p:spPr>
          <a:xfrm>
            <a:off x="5897880" y="1865376"/>
            <a:ext cx="347472" cy="292608"/>
          </a:xfrm>
          <a:prstGeom prst="chevron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8366760" y="1865376"/>
            <a:ext cx="347472" cy="292608"/>
          </a:xfrm>
          <a:prstGeom prst="chevron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03320" y="306324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82635"/>
                </a:solidFill>
                <a:latin typeface="PingFang SC"/>
              </a:rPr>
              <a:t>界面文案草稿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C6772"/>
                </a:solidFill>
                <a:latin typeface="PingFang SC"/>
              </a:rPr>
              <a:t>空态、错误态、按钮文案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01968" y="306324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82635"/>
                </a:solidFill>
                <a:latin typeface="PingFang SC"/>
              </a:rPr>
              <a:t>设计评审清单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C6772"/>
                </a:solidFill>
                <a:latin typeface="PingFang SC"/>
              </a:rPr>
              <a:t>一致性、可用性、信息层级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4599432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82635"/>
                </a:solidFill>
                <a:latin typeface="PingFang SC"/>
              </a:rPr>
              <a:t>系统命名 / 状态枚举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C6772"/>
                </a:solidFill>
                <a:latin typeface="PingFang SC"/>
              </a:rPr>
              <a:t>先出结构，再人工定稿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7" y="4599432"/>
            <a:ext cx="3913632" cy="1234440"/>
          </a:xfrm>
          <a:prstGeom prst="roundRect">
            <a:avLst/>
          </a:prstGeom>
          <a:solidFill>
            <a:srgbClr val="EA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B5657"/>
                </a:solidFill>
                <a:latin typeface="PingFang SC"/>
              </a:rPr>
              <a:t>统一案例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82635"/>
                </a:solidFill>
                <a:latin typeface="PingFang SC"/>
              </a:rPr>
              <a:t>检查搜索页是否缺少空结果、无权限、无筛选条件等状态说明。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989320"/>
            <a:ext cx="10835640" cy="457200"/>
          </a:xfrm>
          <a:prstGeom prst="roundRect">
            <a:avLst/>
          </a:prstGeom>
          <a:solidFill>
            <a:srgbClr val="F1FAFA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5657"/>
                </a:solidFill>
                <a:latin typeface="PingFang SC"/>
              </a:rPr>
              <a:t>结论：</a:t>
            </a:r>
            <a:r>
              <a:rPr sz="1400" b="1">
                <a:solidFill>
                  <a:srgbClr val="182635"/>
                </a:solidFill>
                <a:latin typeface="PingFang SC"/>
              </a:rPr>
              <a:t>设计不能把审美判断直接外包给 AI。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00800"/>
            <a:ext cx="4114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C6772"/>
                </a:solidFill>
                <a:latin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731520"/>
            <a:ext cx="3657600" cy="3657600"/>
          </a:xfrm>
          <a:prstGeom prst="ellipse">
            <a:avLst/>
          </a:prstGeom>
          <a:solidFill>
            <a:srgbClr val="BE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389120"/>
            <a:ext cx="2743200" cy="2743200"/>
          </a:xfrm>
          <a:prstGeom prst="ellipse">
            <a:avLst/>
          </a:prstGeom>
          <a:solidFill>
            <a:srgbClr val="2D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146304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E0CEB6"/>
                </a:solidFill>
                <a:latin typeface="PingFang SC"/>
              </a:rPr>
              <a:t>第 8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7315200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SC"/>
              </a:rPr>
              <a:t>研发怎么用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005840" cy="347472"/>
          </a:xfrm>
          <a:prstGeom prst="round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2 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89888"/>
            <a:ext cx="2834640" cy="731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研发的 AI 使用更深，
但本质仍然是给上下文 + 做验证。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554480"/>
            <a:ext cx="3154680" cy="1600200"/>
          </a:xfrm>
          <a:prstGeom prst="roundRect">
            <a:avLst/>
          </a:prstGeom>
          <a:solidFill>
            <a:srgbClr val="1C2E42"/>
          </a:solidFill>
          <a:ln>
            <a:solidFill>
              <a:srgbClr val="394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ingFang SC"/>
              </a:rPr>
              <a:t>读代码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1D8DD"/>
                </a:solidFill>
                <a:latin typeface="PingFang SC"/>
              </a:rPr>
              <a:t>快速定位相关逻辑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554480"/>
            <a:ext cx="109728" cy="1600200"/>
          </a:xfrm>
          <a:prstGeom prst="rect">
            <a:avLst/>
          </a:prstGeom>
          <a:solidFill>
            <a:srgbClr val="BE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154680" cy="1600200"/>
          </a:xfrm>
          <a:prstGeom prst="roundRect">
            <a:avLst/>
          </a:prstGeom>
          <a:solidFill>
            <a:srgbClr val="1C2E42"/>
          </a:solidFill>
          <a:ln>
            <a:solidFill>
              <a:srgbClr val="394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ingFang SC"/>
              </a:rPr>
              <a:t>补测试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1D8DD"/>
                </a:solidFill>
                <a:latin typeface="PingFang SC"/>
              </a:rPr>
              <a:t>为改动补回归测试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1554480"/>
            <a:ext cx="109728" cy="1600200"/>
          </a:xfrm>
          <a:prstGeom prst="rect">
            <a:avLst/>
          </a:prstGeom>
          <a:solidFill>
            <a:srgbClr val="5A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86200" y="3749039"/>
            <a:ext cx="3154680" cy="1600200"/>
          </a:xfrm>
          <a:prstGeom prst="roundRect">
            <a:avLst/>
          </a:prstGeom>
          <a:solidFill>
            <a:srgbClr val="1C2E42"/>
          </a:solidFill>
          <a:ln>
            <a:solidFill>
              <a:srgbClr val="394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ingFang SC"/>
              </a:rPr>
              <a:t>做 Review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1D8DD"/>
                </a:solidFill>
                <a:latin typeface="PingFang SC"/>
              </a:rPr>
              <a:t>提前发现边界遗漏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3749039"/>
            <a:ext cx="109728" cy="1600200"/>
          </a:xfrm>
          <a:prstGeom prst="rect">
            <a:avLst/>
          </a:prstGeom>
          <a:solidFill>
            <a:srgbClr val="2D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26679" y="3749039"/>
            <a:ext cx="3154680" cy="1600200"/>
          </a:xfrm>
          <a:prstGeom prst="roundRect">
            <a:avLst/>
          </a:prstGeom>
          <a:solidFill>
            <a:srgbClr val="1C2E42"/>
          </a:solidFill>
          <a:ln>
            <a:solidFill>
              <a:srgbClr val="394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ingFang SC"/>
              </a:rPr>
              <a:t>批量重构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1D8DD"/>
                </a:solidFill>
                <a:latin typeface="PingFang SC"/>
              </a:rPr>
              <a:t>处理重复性修改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3749039"/>
            <a:ext cx="109728" cy="1600200"/>
          </a:xfrm>
          <a:prstGeom prst="rect">
            <a:avLst/>
          </a:prstGeom>
          <a:solidFill>
            <a:srgbClr val="CA9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4069080"/>
            <a:ext cx="2377440" cy="987552"/>
          </a:xfrm>
          <a:prstGeom prst="roundRect">
            <a:avLst/>
          </a:prstGeom>
          <a:solidFill>
            <a:srgbClr val="1C2E42"/>
          </a:solidFill>
          <a:ln>
            <a:solidFill>
              <a:srgbClr val="394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343400"/>
            <a:ext cx="19202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E0CEB6"/>
                </a:solidFill>
                <a:latin typeface="PingFang SC"/>
              </a:rPr>
              <a:t>围绕搜索功能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17720"/>
            <a:ext cx="201168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D1D8DD"/>
                </a:solidFill>
                <a:latin typeface="PingFang SC"/>
              </a:rPr>
              <a:t>AI 可以帮助研发更快找到筛选、排序、关键词匹配相关代码位置。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00800"/>
            <a:ext cx="4114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CDD2D6"/>
                </a:solidFill>
                <a:latin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2801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BE5C47"/>
                </a:solidFill>
                <a:latin typeface="PingFang SC"/>
              </a:rPr>
              <a:t>第 9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7863840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182635"/>
                </a:solidFill>
                <a:latin typeface="PingFang SC"/>
              </a:rPr>
              <a:t>一个需求如何跨角色流转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835640" cy="36576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78440" y="347472"/>
            <a:ext cx="1051560" cy="310896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2635"/>
                </a:solidFill>
                <a:latin typeface="PingFang SC"/>
              </a:rPr>
              <a:t>4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3749039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BE5C47"/>
                </a:solidFill>
                <a:latin typeface="PingFang SC"/>
              </a:rPr>
              <a:t>统一案例：用户反馈“搜索功能不好用”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2240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2240280" cy="164592"/>
          </a:xfrm>
          <a:prstGeom prst="rect">
            <a:avLst/>
          </a:prstGeom>
          <a:solidFill>
            <a:srgbClr val="BE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18288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BE5C47"/>
                </a:solidFill>
                <a:latin typeface="PingFang SC"/>
              </a:rPr>
              <a:t>产品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2743200"/>
            <a:ext cx="1874519" cy="475488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整理反馈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3401568"/>
            <a:ext cx="1874519" cy="475488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归类问题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4059935"/>
            <a:ext cx="1874519" cy="475488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补充优先级</a:t>
            </a:r>
          </a:p>
        </p:txBody>
      </p:sp>
      <p:sp>
        <p:nvSpPr>
          <p:cNvPr id="13" name="Chevron 12"/>
          <p:cNvSpPr/>
          <p:nvPr/>
        </p:nvSpPr>
        <p:spPr>
          <a:xfrm>
            <a:off x="3090672" y="3246120"/>
            <a:ext cx="320040" cy="502920"/>
          </a:xfrm>
          <a:prstGeom prst="chevron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93592" y="1920240"/>
            <a:ext cx="2240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93592" y="1920240"/>
            <a:ext cx="2240280" cy="164592"/>
          </a:xfrm>
          <a:prstGeom prst="rect">
            <a:avLst/>
          </a:prstGeom>
          <a:solidFill>
            <a:srgbClr val="2D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2240280"/>
            <a:ext cx="18288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D7071"/>
                </a:solidFill>
                <a:latin typeface="PingFang SC"/>
              </a:rPr>
              <a:t>设计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58184" y="2743200"/>
            <a:ext cx="1874519" cy="475488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补交互状态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8184" y="3401568"/>
            <a:ext cx="1874519" cy="475488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整理说明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58184" y="4059935"/>
            <a:ext cx="1874519" cy="475488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准备评审清单</a:t>
            </a:r>
          </a:p>
        </p:txBody>
      </p:sp>
      <p:sp>
        <p:nvSpPr>
          <p:cNvPr id="20" name="Chevron 19"/>
          <p:cNvSpPr/>
          <p:nvPr/>
        </p:nvSpPr>
        <p:spPr>
          <a:xfrm>
            <a:off x="5861304" y="3246120"/>
            <a:ext cx="320040" cy="502920"/>
          </a:xfrm>
          <a:prstGeom prst="chevron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64224" y="1920240"/>
            <a:ext cx="2240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64224" y="1920240"/>
            <a:ext cx="2240280" cy="164592"/>
          </a:xfrm>
          <a:prstGeom prst="rect">
            <a:avLst/>
          </a:prstGeom>
          <a:solidFill>
            <a:srgbClr val="CA9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2240280"/>
            <a:ext cx="18288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A953D"/>
                </a:solidFill>
                <a:latin typeface="PingFang SC"/>
              </a:rPr>
              <a:t>研发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28816" y="2743200"/>
            <a:ext cx="1874519" cy="475488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定位逻辑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28816" y="3401568"/>
            <a:ext cx="1874519" cy="475488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修改实现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28816" y="4059935"/>
            <a:ext cx="1874519" cy="475488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补测试</a:t>
            </a:r>
          </a:p>
        </p:txBody>
      </p:sp>
      <p:sp>
        <p:nvSpPr>
          <p:cNvPr id="27" name="Chevron 26"/>
          <p:cNvSpPr/>
          <p:nvPr/>
        </p:nvSpPr>
        <p:spPr>
          <a:xfrm>
            <a:off x="8631936" y="3246120"/>
            <a:ext cx="320040" cy="502920"/>
          </a:xfrm>
          <a:prstGeom prst="chevron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34856" y="1920240"/>
            <a:ext cx="2240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34856" y="1920240"/>
            <a:ext cx="2240280" cy="164592"/>
          </a:xfrm>
          <a:prstGeom prst="rect">
            <a:avLst/>
          </a:prstGeom>
          <a:solidFill>
            <a:srgbClr val="5A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240280"/>
            <a:ext cx="18288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5A855C"/>
                </a:solidFill>
                <a:latin typeface="PingFang SC"/>
              </a:rPr>
              <a:t>验收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99448" y="2743200"/>
            <a:ext cx="1874519" cy="475488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统一用 4 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99448" y="3401568"/>
            <a:ext cx="1874519" cy="475488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检查是否可用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486400"/>
            <a:ext cx="10469880" cy="347472"/>
          </a:xfrm>
          <a:prstGeom prst="roundRect">
            <a:avLst/>
          </a:prstGeom>
          <a:solidFill>
            <a:srgbClr val="F9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AI 在每一段的角色：产品阶段整理材料 / 设计阶段补表达和检查清单 / 研发阶段读上下文和验证实现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989320"/>
            <a:ext cx="10835640" cy="457200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863C2F"/>
                </a:solidFill>
                <a:latin typeface="PingFang SC"/>
              </a:rPr>
              <a:t>结论：</a:t>
            </a:r>
            <a:r>
              <a:rPr sz="1400" b="1">
                <a:solidFill>
                  <a:srgbClr val="182635"/>
                </a:solidFill>
                <a:latin typeface="PingFang SC"/>
              </a:rPr>
              <a:t>AI 的最大价值是减少角色之间“重新解释一遍”的成本。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00800"/>
            <a:ext cx="4114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C6772"/>
                </a:solidFill>
                <a:latin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548640"/>
            <a:ext cx="4206240" cy="4206240"/>
          </a:xfrm>
          <a:prstGeom prst="ellipse">
            <a:avLst/>
          </a:prstGeom>
          <a:solidFill>
            <a:srgbClr val="B8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10896"/>
            <a:ext cx="15544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ECDAD5"/>
                </a:solidFill>
                <a:latin typeface="PingFang SC"/>
              </a:rPr>
              <a:t>第 10 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548640"/>
            <a:ext cx="7315200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SC"/>
              </a:rPr>
              <a:t>部门内使用 AI 的红线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47472"/>
            <a:ext cx="1005840" cy="347472"/>
          </a:xfrm>
          <a:prstGeom prst="roundRect">
            <a:avLst/>
          </a:prstGeom>
          <a:solidFill>
            <a:srgbClr val="4D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2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426464"/>
            <a:ext cx="2560320" cy="1051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3800" b="1">
                <a:solidFill>
                  <a:srgbClr val="F4D1C9"/>
                </a:solidFill>
                <a:latin typeface="PingFang SC"/>
              </a:rPr>
              <a:t>5 条红线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965960"/>
            <a:ext cx="7315200" cy="621792"/>
          </a:xfrm>
          <a:prstGeom prst="roundRect">
            <a:avLst/>
          </a:prstGeom>
          <a:solidFill>
            <a:srgbClr val="44322F"/>
          </a:solidFill>
          <a:ln>
            <a:solidFill>
              <a:srgbClr val="644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敏感数据直接输入公共工具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715768"/>
            <a:ext cx="7315200" cy="621792"/>
          </a:xfrm>
          <a:prstGeom prst="roundRect">
            <a:avLst/>
          </a:prstGeom>
          <a:solidFill>
            <a:srgbClr val="44322F"/>
          </a:solidFill>
          <a:ln>
            <a:solidFill>
              <a:srgbClr val="644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外部账号、客户信息、生产环境配置直接暴露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465575"/>
            <a:ext cx="7315200" cy="621792"/>
          </a:xfrm>
          <a:prstGeom prst="roundRect">
            <a:avLst/>
          </a:prstGeom>
          <a:solidFill>
            <a:srgbClr val="44322F"/>
          </a:solidFill>
          <a:ln>
            <a:solidFill>
              <a:srgbClr val="644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未经审阅的内容直接对外发布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215383"/>
            <a:ext cx="7315200" cy="621792"/>
          </a:xfrm>
          <a:prstGeom prst="roundRect">
            <a:avLst/>
          </a:prstGeom>
          <a:solidFill>
            <a:srgbClr val="44322F"/>
          </a:solidFill>
          <a:ln>
            <a:solidFill>
              <a:srgbClr val="644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带权限的自动化操作直接放行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965192"/>
            <a:ext cx="7315200" cy="621792"/>
          </a:xfrm>
          <a:prstGeom prst="roundRect">
            <a:avLst/>
          </a:prstGeom>
          <a:solidFill>
            <a:srgbClr val="44322F"/>
          </a:solidFill>
          <a:ln>
            <a:solidFill>
              <a:srgbClr val="644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把 AI 的判断当作正式结论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" y="4800600"/>
            <a:ext cx="2286000" cy="960120"/>
          </a:xfrm>
          <a:prstGeom prst="roundRect">
            <a:avLst/>
          </a:prstGeom>
          <a:solidFill>
            <a:srgbClr val="44322F"/>
          </a:solidFill>
          <a:ln>
            <a:solidFill>
              <a:srgbClr val="644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D1C9"/>
                </a:solidFill>
                <a:latin typeface="PingFang SC"/>
              </a:rPr>
              <a:t>建议做法</a:t>
            </a:r>
          </a:p>
          <a:p>
            <a:r>
              <a:rPr sz="1300" b="1">
                <a:solidFill>
                  <a:srgbClr val="FFFFFF"/>
                </a:solidFill>
                <a:latin typeface="PingFang SC"/>
              </a:rPr>
              <a:t>边界不清楚时，先按高风险处理。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00800"/>
            <a:ext cx="4114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D2CDCD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-640080"/>
            <a:ext cx="2743200" cy="2743200"/>
          </a:xfrm>
          <a:prstGeom prst="ellipse">
            <a:avLst/>
          </a:prstGeom>
          <a:solidFill>
            <a:srgbClr val="CA9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2801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5A855C"/>
                </a:solidFill>
                <a:latin typeface="PingFang SC"/>
              </a:rPr>
              <a:t>第 11 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7863840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182635"/>
                </a:solidFill>
                <a:latin typeface="PingFang SC"/>
              </a:rPr>
              <a:t>部门落地建议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0835640" cy="36576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78440" y="347472"/>
            <a:ext cx="1051560" cy="310896"/>
          </a:xfrm>
          <a:prstGeom prst="roundRect">
            <a:avLst/>
          </a:prstGeom>
          <a:solidFill>
            <a:srgbClr val="FFFBF5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2635"/>
                </a:solidFill>
                <a:latin typeface="PingFang SC"/>
              </a:rPr>
              <a:t>2 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384048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182635"/>
                </a:solidFill>
                <a:latin typeface="PingFang SC"/>
              </a:rPr>
              <a:t>先试点，再沉淀，再推广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4028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2423160"/>
            <a:ext cx="621792" cy="621792"/>
          </a:xfrm>
          <a:prstGeom prst="ellipse">
            <a:avLst/>
          </a:prstGeom>
          <a:solidFill>
            <a:srgbClr val="CA9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523744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82635"/>
                </a:solidFill>
                <a:latin typeface="PingFang SC"/>
              </a:rPr>
              <a:t>全员通识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00400"/>
            <a:ext cx="210312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5C6772"/>
                </a:solidFill>
                <a:latin typeface="PingFang SC"/>
              </a:rPr>
              <a:t>统一认知和边界</a:t>
            </a:r>
          </a:p>
        </p:txBody>
      </p:sp>
      <p:sp>
        <p:nvSpPr>
          <p:cNvPr id="12" name="Chevron 11"/>
          <p:cNvSpPr/>
          <p:nvPr/>
        </p:nvSpPr>
        <p:spPr>
          <a:xfrm>
            <a:off x="3227832" y="2880360"/>
            <a:ext cx="384048" cy="502920"/>
          </a:xfrm>
          <a:prstGeom prst="chevron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8728" y="224028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03320" y="2423160"/>
            <a:ext cx="621792" cy="621792"/>
          </a:xfrm>
          <a:prstGeom prst="ellipse">
            <a:avLst/>
          </a:prstGeom>
          <a:solidFill>
            <a:srgbClr val="BE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523744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82635"/>
                </a:solidFill>
                <a:latin typeface="PingFang SC"/>
              </a:rPr>
              <a:t>角色试点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3200400"/>
            <a:ext cx="210312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5C6772"/>
                </a:solidFill>
                <a:latin typeface="PingFang SC"/>
              </a:rPr>
              <a:t>各挑 1-2 个高频场景</a:t>
            </a:r>
          </a:p>
        </p:txBody>
      </p:sp>
      <p:sp>
        <p:nvSpPr>
          <p:cNvPr id="17" name="Chevron 16"/>
          <p:cNvSpPr/>
          <p:nvPr/>
        </p:nvSpPr>
        <p:spPr>
          <a:xfrm>
            <a:off x="5897880" y="2880360"/>
            <a:ext cx="384048" cy="502920"/>
          </a:xfrm>
          <a:prstGeom prst="chevron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08776" y="224028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2423160"/>
            <a:ext cx="621792" cy="621792"/>
          </a:xfrm>
          <a:prstGeom prst="ellipse">
            <a:avLst/>
          </a:prstGeom>
          <a:solidFill>
            <a:srgbClr val="2D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2523744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82635"/>
                </a:solidFill>
                <a:latin typeface="PingFang SC"/>
              </a:rPr>
              <a:t>统一模板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3200400"/>
            <a:ext cx="210312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5C6772"/>
                </a:solidFill>
                <a:latin typeface="PingFang SC"/>
              </a:rPr>
              <a:t>沉淀输入、验收、复盘模板</a:t>
            </a:r>
          </a:p>
        </p:txBody>
      </p:sp>
      <p:sp>
        <p:nvSpPr>
          <p:cNvPr id="22" name="Chevron 21"/>
          <p:cNvSpPr/>
          <p:nvPr/>
        </p:nvSpPr>
        <p:spPr>
          <a:xfrm>
            <a:off x="8567928" y="2880360"/>
            <a:ext cx="384048" cy="502920"/>
          </a:xfrm>
          <a:prstGeom prst="chevron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78824" y="224028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43416" y="2423160"/>
            <a:ext cx="621792" cy="621792"/>
          </a:xfrm>
          <a:prstGeom prst="ellipse">
            <a:avLst/>
          </a:prstGeom>
          <a:solidFill>
            <a:srgbClr val="5A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3224" y="2523744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82635"/>
                </a:solidFill>
                <a:latin typeface="PingFang SC"/>
              </a:rPr>
              <a:t>周期复盘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1704" y="3200400"/>
            <a:ext cx="210312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5C6772"/>
                </a:solidFill>
                <a:latin typeface="PingFang SC"/>
              </a:rPr>
              <a:t>持续更新规范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92040"/>
            <a:ext cx="1463040" cy="347472"/>
          </a:xfrm>
          <a:prstGeom prst="roundRect">
            <a:avLst/>
          </a:prstGeom>
          <a:solidFill>
            <a:srgbClr val="5A8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会议纪要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40" y="4892040"/>
            <a:ext cx="1965960" cy="347472"/>
          </a:xfrm>
          <a:prstGeom prst="roundRect">
            <a:avLst/>
          </a:prstGeom>
          <a:solidFill>
            <a:srgbClr val="BE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用户反馈归类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4892040"/>
            <a:ext cx="1920240" cy="347472"/>
          </a:xfrm>
          <a:prstGeom prst="roundRect">
            <a:avLst/>
          </a:prstGeom>
          <a:solidFill>
            <a:srgbClr val="2D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设计说明整理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892040"/>
            <a:ext cx="1463040" cy="347472"/>
          </a:xfrm>
          <a:prstGeom prst="roundRect">
            <a:avLst/>
          </a:prstGeom>
          <a:solidFill>
            <a:srgbClr val="CA9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82635"/>
                </a:solidFill>
                <a:latin typeface="PingFang SC"/>
              </a:rPr>
              <a:t>测试补充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89320"/>
            <a:ext cx="10835640" cy="457200"/>
          </a:xfrm>
          <a:prstGeom prst="roundRect">
            <a:avLst/>
          </a:prstGeom>
          <a:solidFill>
            <a:srgbClr val="F4F9F4"/>
          </a:solidFill>
          <a:ln>
            <a:solidFill>
              <a:srgbClr val="E7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A855C"/>
                </a:solidFill>
                <a:latin typeface="PingFang SC"/>
              </a:rPr>
              <a:t>结论：</a:t>
            </a:r>
            <a:r>
              <a:rPr sz="1400" b="1">
                <a:solidFill>
                  <a:srgbClr val="182635"/>
                </a:solidFill>
                <a:latin typeface="PingFang SC"/>
              </a:rPr>
              <a:t>不要一开始追求全员全面铺开，先把高频低风险场景跑通。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00800"/>
            <a:ext cx="4114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C6772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77240" y="-594360"/>
            <a:ext cx="3474720" cy="3474720"/>
          </a:xfrm>
          <a:prstGeom prst="ellipse">
            <a:avLst/>
          </a:prstGeom>
          <a:solidFill>
            <a:srgbClr val="2D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3840480"/>
            <a:ext cx="3108960" cy="3108960"/>
          </a:xfrm>
          <a:prstGeom prst="ellipse">
            <a:avLst/>
          </a:prstGeom>
          <a:solidFill>
            <a:srgbClr val="BE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868680"/>
            <a:ext cx="23774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E0CEB6"/>
                </a:solidFill>
                <a:latin typeface="PingFang SC"/>
              </a:rPr>
              <a:t>最后记住 3 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50292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E0CEB6"/>
                </a:solidFill>
                <a:latin typeface="PingFang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81912"/>
            <a:ext cx="8138160" cy="4754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AI 最适合做准备工作、结构化工作、重复工作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2103120"/>
            <a:ext cx="7863840" cy="27432"/>
          </a:xfrm>
          <a:prstGeom prst="rect">
            <a:avLst/>
          </a:prstGeom>
          <a:solidFill>
            <a:srgbClr val="3F4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50292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E0CEB6"/>
                </a:solidFill>
                <a:latin typeface="PingFang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907792"/>
            <a:ext cx="8138160" cy="4754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AI 用得越多，越需要边界、验收和复盘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3429000"/>
            <a:ext cx="7863840" cy="27432"/>
          </a:xfrm>
          <a:prstGeom prst="rect">
            <a:avLst/>
          </a:prstGeom>
          <a:solidFill>
            <a:srgbClr val="3F4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50292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E0CEB6"/>
                </a:solidFill>
                <a:latin typeface="PingFang S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233672"/>
            <a:ext cx="8138160" cy="4754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一个部门里最值得优化的是角色之间的交接方式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4754880"/>
            <a:ext cx="7863840" cy="27432"/>
          </a:xfrm>
          <a:prstGeom prst="rect">
            <a:avLst/>
          </a:prstGeom>
          <a:solidFill>
            <a:srgbClr val="3F4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0" y="5074920"/>
            <a:ext cx="2148840" cy="777240"/>
          </a:xfrm>
          <a:prstGeom prst="round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82635"/>
                </a:solidFill>
                <a:latin typeface="PingFang SC"/>
              </a:rPr>
              <a:t>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00800"/>
            <a:ext cx="4114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CDD2D6"/>
                </a:solidFill>
                <a:latin typeface="PingFang S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