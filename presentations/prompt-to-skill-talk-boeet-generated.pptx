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9"/>
    <p:sldId id="257" r:id="rId8"/>
    <p:sldId id="258" r:id="rId7"/>
    <p:sldId id="259" r:id="rId6"/>
    <p:sldId id="260" r:id="rId5"/>
    <p:sldId id="261" r:id="rId4"/>
    <p:sldId id="262" r:id="rId3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sign CIS" initials="DC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0A0A"/>
    <a:srgbClr val="3395D6"/>
    <a:srgbClr val="888888"/>
    <a:srgbClr val="1C5786"/>
    <a:srgbClr val="005BB9"/>
    <a:srgbClr val="3395D5"/>
    <a:srgbClr val="50B77D"/>
    <a:srgbClr val="E8E9E9"/>
    <a:srgbClr val="F8C55D"/>
    <a:srgbClr val="BFC1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32" autoAdjust="0"/>
    <p:restoredTop sz="94322" autoAdjust="0"/>
  </p:normalViewPr>
  <p:slideViewPr>
    <p:cSldViewPr snapToGrid="0">
      <p:cViewPr varScale="1">
        <p:scale>
          <a:sx n="73" d="100"/>
          <a:sy n="73" d="100"/>
        </p:scale>
        <p:origin x="7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1812" y="84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7.xml"/>
  <Relationship Id="rId4" Type="http://schemas.openxmlformats.org/officeDocument/2006/relationships/slide" Target="slides/slide6.xml"/>
  <Relationship Id="rId5" Type="http://schemas.openxmlformats.org/officeDocument/2006/relationships/slide" Target="slides/slide5.xml"/>
  <Relationship Id="rId6" Type="http://schemas.openxmlformats.org/officeDocument/2006/relationships/slide" Target="slides/slide4.xml"/>
  <Relationship Id="rId7" Type="http://schemas.openxmlformats.org/officeDocument/2006/relationships/slide" Target="slides/slide3.xml"/>
  <Relationship Id="rId8" Type="http://schemas.openxmlformats.org/officeDocument/2006/relationships/slide" Target="slides/slide2.xml"/>
  <Relationship Id="rId9" Type="http://schemas.openxmlformats.org/officeDocument/2006/relationships/slide" Target="slides/slide1.xml"/>
  <Relationship Id="rId10" Type="http://schemas.openxmlformats.org/officeDocument/2006/relationships/notesMaster" Target="notesMasters/notesMaster1.xml"/>
  <Relationship Id="rId11" Type="http://schemas.openxmlformats.org/officeDocument/2006/relationships/handoutMaster" Target="handoutMasters/handoutMaster1.xml"/>
  <Relationship Id="rId12" Type="http://schemas.openxmlformats.org/officeDocument/2006/relationships/presProps" Target="presProps.xml"/>
  <Relationship Id="rId13" Type="http://schemas.openxmlformats.org/officeDocument/2006/relationships/viewProps" Target="viewProps.xml"/>
  <Relationship Id="rId14" Type="http://schemas.openxmlformats.org/officeDocument/2006/relationships/tableStyles" Target="tableStyles.xml"/>
  <Relationship Id="rId15" Type="http://schemas.openxmlformats.org/officeDocument/2006/relationships/commentAuthors" Target="commentAuthors.xml"/>
  <Relationship Id="rId16" Type="http://schemas.openxmlformats.org/officeDocument/2006/relationships/tags" Target="tags/tag1.xml"/>
  <Relationship Id="rId17" Type="http://schemas.openxmlformats.org/officeDocument/2006/relationships/slide" Target="slides/slide8.xml"/>
  <Relationship Id="rId18" Type="http://schemas.openxmlformats.org/officeDocument/2006/relationships/slide" Target="slides/slide9.xml"/>
  <Relationship Id="rId19" Type="http://schemas.openxmlformats.org/officeDocument/2006/relationships/slide" Target="slides/slide10.xml"/>
  <Relationship Id="rId20" Type="http://schemas.openxmlformats.org/officeDocument/2006/relationships/slide" Target="slides/slide11.xml"/>
  <Relationship Id="rId21" Type="http://schemas.openxmlformats.org/officeDocument/2006/relationships/slide" Target="slides/slide12.xml"/>
  <Relationship Id="rId22" Type="http://schemas.openxmlformats.org/officeDocument/2006/relationships/slide" Target="slides/slide13.xml"/>
  <Relationship Id="rId23" Type="http://schemas.openxmlformats.org/officeDocument/2006/relationships/slide" Target="slides/slide14.xml"/>
  <Relationship Id="rId24" Type="http://schemas.openxmlformats.org/officeDocument/2006/relationships/slide" Target="slides/slide15.xml"/>
  <Relationship Id="rId25" Type="http://schemas.openxmlformats.org/officeDocument/2006/relationships/slide" Target="slides/slide16.xml"/>
  <Relationship Id="rId26" Type="http://schemas.openxmlformats.org/officeDocument/2006/relationships/slide" Target="slides/slide17.xml"/>
</Relationships>
</file>

<file path=ppt/handoutMasters/_rels/handoutMaster1.xml.rels><?xml version="1.0" encoding="utf-8"?><Relationships xmlns="http://schemas.openxmlformats.org/package/2006/relationships">
  <Relationship Id="rId1" Type="http://schemas.openxmlformats.org/officeDocument/2006/relationships/theme" Target="../theme/theme3.xml"/>
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A9EBDF-13CD-4833-87AD-630D5D5ECD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F5A620-777A-4D7E-B9A1-1AB5994BC06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?>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F30BD6-898A-4A5D-A948-A55451E287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462F6E-CEB4-45AE-979C-568CD40D3A3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
  <Relationship Id="rId1" Type="http://schemas.openxmlformats.org/officeDocument/2006/relationships/slideMaster" Target="../slideMasters/slideMaster1.xml"/>
  <Relationship Id="rId2" Type="http://schemas.openxmlformats.org/officeDocument/2006/relationships/image" Target="../media/image1.jpeg"/>
  <Relationship Id="rId3" Type="http://schemas.openxmlformats.org/officeDocument/2006/relationships/image" Target="../media/image2.png"/>
</Relationships>
</file>

<file path=ppt/slideLayouts/_rels/slideLayout2.xml.rels><?xml version="1.0" encoding="utf-8"?><Relationships xmlns="http://schemas.openxmlformats.org/package/2006/relationships">
  <Relationship Id="rId1" Type="http://schemas.openxmlformats.org/officeDocument/2006/relationships/slideMaster" Target="../slideMasters/slideMaster1.xml"/>
  <Relationship Id="rId2" Type="http://schemas.openxmlformats.org/officeDocument/2006/relationships/image" Target="../media/image3.jpeg"/>
  <Relationship Id="rId3" Type="http://schemas.openxmlformats.org/officeDocument/2006/relationships/image" Target="../media/image2.png"/>
</Relationships>
</file>

<file path=ppt/slideLayouts/_rels/slideLayout3.xml.rels><?xml version="1.0" encoding="utf-8"?><Relationships xmlns="http://schemas.openxmlformats.org/package/2006/relationships">
  <Relationship Id="rId1" Type="http://schemas.openxmlformats.org/officeDocument/2006/relationships/slideMaster" Target="../slideMasters/slideMaster1.xml"/>
  <Relationship Id="rId2" Type="http://schemas.openxmlformats.org/officeDocument/2006/relationships/image" Target="../media/image4.jpeg"/>
  <Relationship Id="rId3" Type="http://schemas.openxmlformats.org/officeDocument/2006/relationships/image" Target="../media/image5.png"/>
</Relationships>
</file>

<file path=ppt/slideLayouts/_rels/slideLayout4.xml.rels><?xml version="1.0" encoding="utf-8"?>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?><Relationships xmlns="http://schemas.openxmlformats.org/package/2006/relationships">
  <Relationship Id="rId1" Type="http://schemas.openxmlformats.org/officeDocument/2006/relationships/slideMaster" Target="../slideMasters/slideMaster1.xml"/>
  <Relationship Id="rId2" Type="http://schemas.openxmlformats.org/officeDocument/2006/relationships/image" Target="../media/image6.jpeg"/>
  <Relationship Id="rId3" Type="http://schemas.openxmlformats.org/officeDocument/2006/relationships/image" Target="../media/image7.jpeg"/>
  <Relationship Id="rId4" Type="http://schemas.openxmlformats.org/officeDocument/2006/relationships/image" Target="../media/image2.png"/>
</Relationships>
</file>

<file path=ppt/slideLayouts/_rels/slideLayout6.xml.rels><?xml version="1.0" encoding="utf-8"?><Relationships xmlns="http://schemas.openxmlformats.org/package/2006/relationships">
  <Relationship Id="rId1" Type="http://schemas.openxmlformats.org/officeDocument/2006/relationships/slideMaster" Target="../slideMasters/slideMaster1.xml"/>
  <Relationship Id="rId2" Type="http://schemas.openxmlformats.org/officeDocument/2006/relationships/image" Target="../media/image8.jpeg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4" cy="6857999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31805" y="6530340"/>
            <a:ext cx="1098276" cy="324000"/>
          </a:xfrm>
          <a:prstGeom prst="rect">
            <a:avLst/>
          </a:prstGeom>
        </p:spPr>
      </p:pic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87758"/>
            <a:ext cx="12192000" cy="71120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5400" b="1" spc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标题</a:t>
            </a:r>
            <a:r>
              <a:rPr lang="en-US" altLang="zh-CN" dirty="0"/>
              <a:t>-</a:t>
            </a:r>
            <a:r>
              <a:rPr lang="zh-CN" altLang="en-US" dirty="0"/>
              <a:t>微软雅黑加粗</a:t>
            </a:r>
            <a:endParaRPr lang="zh-CN" altLang="en-US" dirty="0"/>
          </a:p>
        </p:txBody>
      </p:sp>
      <p:sp>
        <p:nvSpPr>
          <p:cNvPr id="3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4351020" y="5783580"/>
            <a:ext cx="3489960" cy="32575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0" u="none" strike="noStrike" kern="1200" cap="none" spc="10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汇报组织</a:t>
            </a:r>
            <a:endParaRPr lang="zh-CN" altLang="en-US" dirty="0"/>
          </a:p>
        </p:txBody>
      </p:sp>
      <p:sp>
        <p:nvSpPr>
          <p:cNvPr id="4" name="文本占位符 9"/>
          <p:cNvSpPr>
            <a:spLocks noGrp="1"/>
          </p:cNvSpPr>
          <p:nvPr>
            <p:ph type="body" sz="quarter" idx="23" hasCustomPrompt="1"/>
          </p:nvPr>
        </p:nvSpPr>
        <p:spPr>
          <a:xfrm>
            <a:off x="4350385" y="6136640"/>
            <a:ext cx="3491230" cy="35941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0" u="none" strike="noStrike" kern="1200" cap="none" spc="10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XX</a:t>
            </a:r>
            <a:r>
              <a:rPr lang="zh-CN" altLang="en-US" dirty="0"/>
              <a:t>年</a:t>
            </a:r>
            <a:r>
              <a:rPr lang="en-US" altLang="zh-CN" dirty="0"/>
              <a:t>XX</a:t>
            </a:r>
            <a:r>
              <a:rPr lang="zh-CN" altLang="en-US" dirty="0"/>
              <a:t>月</a:t>
            </a:r>
            <a:r>
              <a:rPr lang="en-US" altLang="zh-CN" dirty="0"/>
              <a:t>XX</a:t>
            </a:r>
            <a:r>
              <a:rPr lang="zh-CN" altLang="en-US" dirty="0"/>
              <a:t>日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sp>
        <p:nvSpPr>
          <p:cNvPr id="16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1921329" y="0"/>
            <a:ext cx="8168523" cy="6858000"/>
          </a:xfrm>
          <a:prstGeom prst="rect">
            <a:avLst/>
          </a:prstGeom>
        </p:spPr>
        <p:txBody>
          <a:bodyPr anchor="ctr"/>
          <a:lstStyle>
            <a:lvl1pPr marL="514350" marR="0" indent="-5143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 sz="2800" b="1" spc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</a:lstStyle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US" altLang="zh-CN" dirty="0"/>
              <a:t xml:space="preserve">CHAPTER </a:t>
            </a:r>
            <a:r>
              <a:rPr lang="zh-CN" altLang="en-US" dirty="0"/>
              <a:t>章节一</a:t>
            </a:r>
            <a:endParaRPr lang="zh-CN" altLang="en-US" dirty="0"/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US" altLang="zh-CN" dirty="0"/>
              <a:t xml:space="preserve">CHAPTER </a:t>
            </a:r>
            <a:r>
              <a:rPr lang="zh-CN" altLang="en-US" dirty="0"/>
              <a:t>章节二</a:t>
            </a:r>
            <a:endParaRPr lang="en-US" altLang="zh-CN" dirty="0"/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US" altLang="zh-CN" dirty="0"/>
              <a:t xml:space="preserve">CHAPTER </a:t>
            </a:r>
            <a:r>
              <a:rPr lang="zh-CN" altLang="en-US" dirty="0"/>
              <a:t>章节三</a:t>
            </a:r>
            <a:endParaRPr lang="en-US" altLang="zh-CN" dirty="0"/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US" altLang="zh-CN" dirty="0"/>
              <a:t xml:space="preserve">CHAPTER </a:t>
            </a:r>
            <a:r>
              <a:rPr lang="zh-CN" altLang="en-US" dirty="0"/>
              <a:t>章节四</a:t>
            </a:r>
            <a:endParaRPr lang="en-US" altLang="zh-CN" dirty="0"/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US" altLang="zh-CN" dirty="0"/>
              <a:t xml:space="preserve">CHAPTER </a:t>
            </a:r>
            <a:r>
              <a:rPr lang="zh-CN" altLang="en-US" dirty="0"/>
              <a:t>章节五</a:t>
            </a:r>
            <a:endParaRPr lang="en-US" altLang="zh-CN" dirty="0"/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US" altLang="zh-CN" dirty="0"/>
              <a:t xml:space="preserve">CHAPTER </a:t>
            </a:r>
            <a:r>
              <a:rPr lang="zh-CN" altLang="en-US" dirty="0"/>
              <a:t>章节六</a:t>
            </a:r>
            <a:endParaRPr lang="en-US" altLang="zh-CN" dirty="0"/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US" altLang="zh-CN" dirty="0"/>
              <a:t xml:space="preserve">CHAPTER </a:t>
            </a:r>
            <a:r>
              <a:rPr lang="zh-CN" altLang="en-US" dirty="0"/>
              <a:t>章节七</a:t>
            </a:r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31805" y="6530340"/>
            <a:ext cx="1098276" cy="32400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757" y="2517775"/>
            <a:ext cx="12192000" cy="1325563"/>
          </a:xfrm>
          <a:prstGeom prst="rect">
            <a:avLst/>
          </a:prstGeom>
        </p:spPr>
        <p:txBody>
          <a:bodyPr anchor="ctr"/>
          <a:lstStyle>
            <a:lvl1pPr algn="ctr">
              <a:defRPr sz="4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 xml:space="preserve">1.CHAPTER </a:t>
            </a:r>
            <a:r>
              <a:rPr lang="zh-CN" altLang="en-US" dirty="0"/>
              <a:t>章节一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29265" y="6526530"/>
            <a:ext cx="1098277" cy="32400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B257A-D64C-4BDD-A000-19504D84BCCD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9"/>
          <p:cNvSpPr>
            <a:spLocks noGrp="1"/>
          </p:cNvSpPr>
          <p:nvPr>
            <p:ph type="body" sz="quarter" idx="11" hasCustomPrompt="1"/>
          </p:nvPr>
        </p:nvSpPr>
        <p:spPr>
          <a:xfrm>
            <a:off x="387350" y="75686"/>
            <a:ext cx="10782300" cy="711200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 spc="3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页面标题</a:t>
            </a:r>
            <a:r>
              <a:rPr lang="en-US" altLang="zh-CN" dirty="0"/>
              <a:t>-</a:t>
            </a:r>
            <a:r>
              <a:rPr lang="zh-CN" altLang="en-US" dirty="0"/>
              <a:t>微软雅黑</a:t>
            </a:r>
            <a:endParaRPr lang="zh-CN" altLang="en-US" dirty="0"/>
          </a:p>
        </p:txBody>
      </p:sp>
      <p:sp>
        <p:nvSpPr>
          <p:cNvPr id="8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387350" y="936625"/>
            <a:ext cx="11365865" cy="306705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 algn="l">
              <a:lnSpc>
                <a:spcPct val="100000"/>
              </a:lnSpc>
              <a:buFont typeface="Wingdings" panose="05000000000000000000" charset="0"/>
              <a:buChar char="Ø"/>
              <a:defRPr sz="1400" b="0"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</a:t>
            </a:r>
            <a:r>
              <a:rPr lang="en-US" altLang="zh-CN" dirty="0"/>
              <a:t>-</a:t>
            </a:r>
            <a:r>
              <a:rPr lang="zh-CN" altLang="en-US" dirty="0"/>
              <a:t>微软雅黑</a:t>
            </a:r>
            <a:r>
              <a:rPr lang="en-US" altLang="zh-CN" dirty="0"/>
              <a:t xml:space="preserve"> </a:t>
            </a:r>
            <a:r>
              <a:rPr lang="zh-CN" altLang="en-US" dirty="0"/>
              <a:t>建议不小于</a:t>
            </a:r>
            <a:r>
              <a:rPr lang="en-US" altLang="zh-CN" dirty="0"/>
              <a:t>12</a:t>
            </a:r>
            <a:r>
              <a:rPr lang="zh-CN" altLang="en-US" dirty="0"/>
              <a:t>号字，行间距根据版面适当调整，建议</a:t>
            </a:r>
            <a:r>
              <a:rPr lang="en-US" altLang="zh-CN" dirty="0"/>
              <a:t>1.25-1.5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631805" y="6530340"/>
            <a:ext cx="1098276" cy="32400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4724442" y="6613071"/>
            <a:ext cx="2743793" cy="2449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DB257A-D64C-4BDD-A000-19504D84BC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image" Target="../media/image6.jpeg"/>
  <Relationship Id="rId8" Type="http://schemas.openxmlformats.org/officeDocument/2006/relationships/image" Target="../media/image2.png"/>
  <Relationship Id="rId9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4723807" y="6613071"/>
            <a:ext cx="2743793" cy="2449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DB257A-D64C-4BDD-A000-19504D84BCCD}" type="slidenum">
              <a:rPr lang="zh-CN" altLang="en-US" smtClean="0"/>
            </a:fld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1190605" y="6630670"/>
            <a:ext cx="732184" cy="216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3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4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5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6.xml"/>
</Relationships>
</file>

<file path=ppt/slides/_rels/slide6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7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8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9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6.xml"/>
</Relationships>
</file>

<file path=ppt/slides/_rels/slide10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11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12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13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14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6.xml"/>
</Relationships>
</file>

<file path=ppt/slides/_rels/slide15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6.xml"/>
</Relationships>
</file>

<file path=ppt/slides/_rels/slide16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17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anchor="ctr"/>
          <a:lstStyle/>
          <a:p>
            <a:pPr algn="l"/>
            <a:r>
              <a:rPr sz="2400" b="1" i="0">
                <a:solidFill>
                  <a:srgbClr val="373545"/>
                </a:solidFill>
                <a:latin typeface="微软雅黑"/>
              </a:rPr>
              <a:t>从 Prompt 到 Skill
把 AI 使用习惯升级为团队能力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pPr algn="l"/>
            <a:r>
              <a:rPr sz="1500" b="0" i="0">
                <a:solidFill>
                  <a:srgbClr val="005889"/>
                </a:solidFill>
                <a:latin typeface="微软雅黑"/>
              </a:rPr>
              <a:t>面向混合团队的 Skill 方法、案例与落地路径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 anchor="ctr"/>
          <a:lstStyle/>
          <a:p>
            <a:pPr algn="l"/>
            <a:r>
              <a:rPr sz="1300" b="0" i="0">
                <a:solidFill>
                  <a:srgbClr val="54585A"/>
                </a:solidFill>
                <a:latin typeface="微软雅黑"/>
              </a:rPr>
              <a:t>研发 / 产品 / 设计 / 管理者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2011680"/>
            <a:ext cx="1115568" cy="53035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56832" y="2121408"/>
            <a:ext cx="96926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100" b="1" i="0">
                <a:solidFill>
                  <a:srgbClr val="005889"/>
                </a:solidFill>
                <a:latin typeface="微软雅黑"/>
              </a:rPr>
              <a:t>Prompt</a:t>
            </a:r>
          </a:p>
        </p:txBody>
      </p:sp>
      <p:sp>
        <p:nvSpPr>
          <p:cNvPr id="7" name="Chevron 6"/>
          <p:cNvSpPr/>
          <p:nvPr/>
        </p:nvSpPr>
        <p:spPr>
          <a:xfrm>
            <a:off x="7635240" y="2157984"/>
            <a:ext cx="256032" cy="237744"/>
          </a:xfrm>
          <a:prstGeom prst="chevron">
            <a:avLst/>
          </a:prstGeom>
          <a:solidFill>
            <a:srgbClr val="E7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09560" y="2011680"/>
            <a:ext cx="1115568" cy="53035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82712" y="2121408"/>
            <a:ext cx="96926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100" b="1" i="0">
                <a:solidFill>
                  <a:srgbClr val="45BA7D"/>
                </a:solidFill>
                <a:latin typeface="微软雅黑"/>
              </a:rPr>
              <a:t>Skill</a:t>
            </a:r>
          </a:p>
        </p:txBody>
      </p:sp>
      <p:sp>
        <p:nvSpPr>
          <p:cNvPr id="10" name="Chevron 9"/>
          <p:cNvSpPr/>
          <p:nvPr/>
        </p:nvSpPr>
        <p:spPr>
          <a:xfrm>
            <a:off x="8961120" y="2157984"/>
            <a:ext cx="256032" cy="237744"/>
          </a:xfrm>
          <a:prstGeom prst="chevron">
            <a:avLst/>
          </a:prstGeom>
          <a:solidFill>
            <a:srgbClr val="E7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35440" y="2011680"/>
            <a:ext cx="1115568" cy="53035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08592" y="2121408"/>
            <a:ext cx="96926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100" b="1" i="0">
                <a:solidFill>
                  <a:srgbClr val="FFC757"/>
                </a:solidFill>
                <a:latin typeface="微软雅黑"/>
              </a:rPr>
              <a:t>Team Capability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816352"/>
            <a:ext cx="3977639" cy="530352"/>
          </a:xfrm>
          <a:prstGeom prst="roundRect">
            <a:avLst>
              <a:gd name="adj" fmla="val 18000"/>
            </a:avLst>
          </a:prstGeom>
          <a:solidFill>
            <a:srgbClr val="F4F8FB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 i="0">
                <a:solidFill>
                  <a:srgbClr val="1F2D38"/>
                </a:solidFill>
                <a:latin typeface="微软雅黑"/>
              </a:rPr>
              <a:t>真正值得做的，不是“更多 prompt”，而是“更稳定的工作流入口”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931920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00" b="1" i="0">
                <a:solidFill>
                  <a:srgbClr val="009AD8"/>
                </a:solidFill>
                <a:latin typeface="微软雅黑"/>
              </a:rPr>
              <a:t>P1 封面页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anchor="ctr"/>
          <a:lstStyle/>
          <a:p>
            <a:pPr algn="l"/>
            <a:r>
              <a:rPr sz="2000" b="1" i="0">
                <a:solidFill>
                  <a:srgbClr val="54585A"/>
                </a:solidFill>
                <a:latin typeface="微软雅黑"/>
              </a:rPr>
              <a:t>团队已经会用 AI，但高质量做法还停留在聊天记录里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pPr algn="l"/>
            <a:r>
              <a:rPr sz="1200" b="0" i="0">
                <a:solidFill>
                  <a:srgbClr val="54585A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12064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团队已经会用 AI，但高质量做法仍停留在个人经验、聊天记录和人工兜底里。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2148840" cy="1417320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905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1399032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 i="0">
                <a:solidFill>
                  <a:srgbClr val="005889"/>
                </a:solidFill>
                <a:latin typeface="微软雅黑"/>
              </a:rPr>
              <a:t>反复解释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46504"/>
            <a:ext cx="1856232" cy="9235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同一种流程每次都要重新交代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高质量做法难以复用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234440"/>
            <a:ext cx="2148840" cy="1417320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905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26664" y="1399032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 i="0">
                <a:solidFill>
                  <a:srgbClr val="45BA7D"/>
                </a:solidFill>
                <a:latin typeface="微软雅黑"/>
              </a:rPr>
              <a:t>做法漂移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26664" y="1746504"/>
            <a:ext cx="1856232" cy="9235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同一种任务每个人路径不同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质量与结构波动很大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80360"/>
            <a:ext cx="2148840" cy="1417320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905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3044952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 i="0">
                <a:solidFill>
                  <a:srgbClr val="FFC757"/>
                </a:solidFill>
                <a:latin typeface="微软雅黑"/>
              </a:rPr>
              <a:t>经验孤岛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3392424"/>
            <a:ext cx="1856232" cy="9235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经验只留在少数人脑子里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聊天记录无法成为团队资产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2880360"/>
            <a:ext cx="2148840" cy="1417320"/>
          </a:xfrm>
          <a:prstGeom prst="roundRect">
            <a:avLst>
              <a:gd name="adj" fmla="val 16000"/>
            </a:avLst>
          </a:prstGeom>
          <a:solidFill>
            <a:srgbClr val="FFEEEA"/>
          </a:solidFill>
          <a:ln w="1905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26664" y="3044952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 i="0">
                <a:solidFill>
                  <a:srgbClr val="FF8F82"/>
                </a:solidFill>
                <a:latin typeface="微软雅黑"/>
              </a:rPr>
              <a:t>风险靠盯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6664" y="3392424"/>
            <a:ext cx="1856232" cy="9235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该自动守住的动作仍靠人工提醒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一忙就容易漏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0" y="1389888"/>
            <a:ext cx="4206240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15584" y="1554480"/>
            <a:ext cx="39136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 i="0">
                <a:solidFill>
                  <a:srgbClr val="005889"/>
                </a:solidFill>
                <a:latin typeface="微软雅黑"/>
              </a:rPr>
              <a:t>临时 prompt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15584" y="1901952"/>
            <a:ext cx="3913632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/>
        </p:txBody>
      </p:sp>
      <p:sp>
        <p:nvSpPr>
          <p:cNvPr id="20" name="Chevron 19"/>
          <p:cNvSpPr/>
          <p:nvPr/>
        </p:nvSpPr>
        <p:spPr>
          <a:xfrm>
            <a:off x="7571232" y="2093976"/>
            <a:ext cx="384048" cy="164592"/>
          </a:xfrm>
          <a:prstGeom prst="chevron">
            <a:avLst/>
          </a:prstGeom>
          <a:solidFill>
            <a:srgbClr val="E7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69280" y="2304288"/>
            <a:ext cx="4206240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5584" y="2468880"/>
            <a:ext cx="39136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 i="0">
                <a:solidFill>
                  <a:srgbClr val="009AD8"/>
                </a:solidFill>
                <a:latin typeface="微软雅黑"/>
              </a:rPr>
              <a:t>临场解释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15584" y="2816352"/>
            <a:ext cx="3913632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/>
        </p:txBody>
      </p:sp>
      <p:sp>
        <p:nvSpPr>
          <p:cNvPr id="24" name="Chevron 23"/>
          <p:cNvSpPr/>
          <p:nvPr/>
        </p:nvSpPr>
        <p:spPr>
          <a:xfrm>
            <a:off x="7571232" y="3008376"/>
            <a:ext cx="384048" cy="164592"/>
          </a:xfrm>
          <a:prstGeom prst="chevron">
            <a:avLst/>
          </a:prstGeom>
          <a:solidFill>
            <a:srgbClr val="E7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669280" y="3218688"/>
            <a:ext cx="4206240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15584" y="3383280"/>
            <a:ext cx="39136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 i="0">
                <a:solidFill>
                  <a:srgbClr val="45BA7D"/>
                </a:solidFill>
                <a:latin typeface="微软雅黑"/>
              </a:rPr>
              <a:t>结果漂移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15584" y="3730752"/>
            <a:ext cx="3913632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/>
        </p:txBody>
      </p:sp>
      <p:sp>
        <p:nvSpPr>
          <p:cNvPr id="28" name="Chevron 27"/>
          <p:cNvSpPr/>
          <p:nvPr/>
        </p:nvSpPr>
        <p:spPr>
          <a:xfrm>
            <a:off x="7571232" y="3922776"/>
            <a:ext cx="384048" cy="164592"/>
          </a:xfrm>
          <a:prstGeom prst="chevron">
            <a:avLst/>
          </a:prstGeom>
          <a:solidFill>
            <a:srgbClr val="E7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69280" y="4133088"/>
            <a:ext cx="4206240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15584" y="4297680"/>
            <a:ext cx="39136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 i="0">
                <a:solidFill>
                  <a:srgbClr val="FF8F82"/>
                </a:solidFill>
                <a:latin typeface="微软雅黑"/>
              </a:rPr>
              <a:t>人工兜底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15584" y="4645152"/>
            <a:ext cx="3913632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5669280" y="5102352"/>
            <a:ext cx="4251960" cy="530352"/>
          </a:xfrm>
          <a:prstGeom prst="roundRect">
            <a:avLst>
              <a:gd name="adj" fmla="val 18000"/>
            </a:avLst>
          </a:prstGeom>
          <a:solidFill>
            <a:srgbClr val="FFF6DB"/>
          </a:solidFill>
          <a:ln w="1524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 i="0">
                <a:solidFill>
                  <a:srgbClr val="1F2D38"/>
                </a:solidFill>
                <a:latin typeface="微软雅黑"/>
              </a:rPr>
              <a:t>症结不是“不会用 AI”，而是没把高质量做法升级成稳定能力。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anchor="ctr"/>
          <a:lstStyle/>
          <a:p>
            <a:pPr algn="l"/>
            <a:r>
              <a:rPr sz="2000" b="1" i="0">
                <a:solidFill>
                  <a:srgbClr val="54585A"/>
                </a:solidFill>
                <a:latin typeface="微软雅黑"/>
              </a:rPr>
              <a:t>Skill 的本质，是把临场技巧升级为可复用工作流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pPr algn="l"/>
            <a:r>
              <a:rPr sz="1200" b="0" i="0">
                <a:solidFill>
                  <a:srgbClr val="54585A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12064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Skill 的关键不是字数更多，而是把触发条件、步骤顺序和输出形状都固定下来。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4206240" cy="3246120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905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17904"/>
            <a:ext cx="39136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 i="0">
                <a:solidFill>
                  <a:srgbClr val="005889"/>
                </a:solidFill>
                <a:latin typeface="微软雅黑"/>
              </a:rPr>
              <a:t>Before｜一次性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865376"/>
            <a:ext cx="3913632" cy="27523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每次会话都从头解释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只对当前这一次有效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只有熟练写 prompt 的人能稳定产出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73952" y="1353312"/>
            <a:ext cx="3886200" cy="3246120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905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6" y="1517904"/>
            <a:ext cx="35935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 i="0">
                <a:solidFill>
                  <a:srgbClr val="45BA7D"/>
                </a:solidFill>
                <a:latin typeface="微软雅黑"/>
              </a:rPr>
              <a:t>After｜可复用 Skill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0256" y="1865376"/>
            <a:ext cx="3593592" cy="27523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固定触发条件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固定步骤顺序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固定输出格式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任何人都能通过统一入口复用</a:t>
            </a:r>
          </a:p>
        </p:txBody>
      </p:sp>
      <p:sp>
        <p:nvSpPr>
          <p:cNvPr id="11" name="Chevron 10"/>
          <p:cNvSpPr/>
          <p:nvPr/>
        </p:nvSpPr>
        <p:spPr>
          <a:xfrm>
            <a:off x="5138928" y="2468880"/>
            <a:ext cx="749808" cy="384048"/>
          </a:xfrm>
          <a:prstGeom prst="chevron">
            <a:avLst/>
          </a:prstGeom>
          <a:solidFill>
            <a:srgbClr val="E7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97280" y="4892040"/>
            <a:ext cx="8961120" cy="5852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400" b="1" i="0">
                <a:solidFill>
                  <a:srgbClr val="373545"/>
                </a:solidFill>
                <a:latin typeface="微软雅黑"/>
              </a:rPr>
              <a:t>一句话定义：Skill 是带说明的主动工作流入口。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anchor="ctr"/>
          <a:lstStyle/>
          <a:p>
            <a:pPr algn="l"/>
            <a:r>
              <a:rPr sz="2000" b="1" i="0">
                <a:solidFill>
                  <a:srgbClr val="54585A"/>
                </a:solidFill>
                <a:latin typeface="微软雅黑"/>
              </a:rPr>
              <a:t>Skill 不是更长的 Prompt，也不是另一套项目规则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pPr algn="l"/>
            <a:r>
              <a:rPr sz="1200" b="0" i="0">
                <a:solidFill>
                  <a:srgbClr val="54585A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12064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Prompt 决定这次要什么，Skill 决定怎样稳定做，Rules 决定什么绝不能错。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880360" cy="34747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" y="1581912"/>
            <a:ext cx="258775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 i="0">
                <a:solidFill>
                  <a:srgbClr val="005889"/>
                </a:solidFill>
                <a:latin typeface="微软雅黑"/>
              </a:rPr>
              <a:t>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1929384"/>
            <a:ext cx="2587752" cy="2980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围绕当前请求临时组织表达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目标是把这次需求说清楚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更偏一次性上下文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95928" y="1417320"/>
            <a:ext cx="2880360" cy="34747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42232" y="1581912"/>
            <a:ext cx="258775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 i="0">
                <a:solidFill>
                  <a:srgbClr val="45BA7D"/>
                </a:solidFill>
                <a:latin typeface="微软雅黑"/>
              </a:rPr>
              <a:t>Skill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42232" y="1929384"/>
            <a:ext cx="2587752" cy="2980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把一类主动任务封装成流程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强调触发条件、步骤和输出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适合高频、可复用任务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97496" y="1417320"/>
            <a:ext cx="2880360" cy="34747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1581912"/>
            <a:ext cx="258775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 i="0">
                <a:solidFill>
                  <a:srgbClr val="FFC757"/>
                </a:solidFill>
                <a:latin typeface="微软雅黑"/>
              </a:rPr>
              <a:t>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1929384"/>
            <a:ext cx="2587752" cy="2980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定义项目边界、优先级和禁区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防止越界、漏约束、误操作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负责守住不能错的地方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074920"/>
            <a:ext cx="8869680" cy="457200"/>
          </a:xfrm>
          <a:prstGeom prst="roundRect">
            <a:avLst>
              <a:gd name="adj" fmla="val 18000"/>
            </a:avLst>
          </a:prstGeom>
          <a:solidFill>
            <a:srgbClr val="F4F8FB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 i="0">
                <a:solidFill>
                  <a:srgbClr val="1F2D38"/>
                </a:solidFill>
                <a:latin typeface="微软雅黑"/>
              </a:rPr>
              <a:t>Skill 不替代用户目标，也不替代项目规则。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64592"/>
            <a:ext cx="99669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100" b="1" i="0">
                <a:solidFill>
                  <a:srgbClr val="54585A"/>
                </a:solidFill>
                <a:latin typeface="微软雅黑"/>
              </a:rPr>
              <a:t>Rule、Skill、Hook、Agent 各自解决不同层级的问题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12064"/>
            <a:ext cx="987552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很多问题不必一上来就做 Agent；先看它更像边界、主动流程、自动守门，还是长链路任务。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280160" y="5120640"/>
            <a:ext cx="8595360" cy="0"/>
          </a:xfrm>
          <a:prstGeom prst="line">
            <a:avLst/>
          </a:prstGeom>
          <a:ln w="22860">
            <a:solidFill>
              <a:srgbClr val="C8D9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417320" y="1143000"/>
            <a:ext cx="0" cy="4160520"/>
          </a:xfrm>
          <a:prstGeom prst="line">
            <a:avLst/>
          </a:prstGeom>
          <a:ln w="22860">
            <a:solidFill>
              <a:srgbClr val="C8D9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hevron 5"/>
          <p:cNvSpPr/>
          <p:nvPr/>
        </p:nvSpPr>
        <p:spPr>
          <a:xfrm>
            <a:off x="9710928" y="5001768"/>
            <a:ext cx="256032" cy="201168"/>
          </a:xfrm>
          <a:prstGeom prst="chevron">
            <a:avLst/>
          </a:prstGeom>
          <a:solidFill>
            <a:srgbClr val="C8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>
            <a:off x="1298448" y="1060704"/>
            <a:ext cx="201168" cy="256032"/>
          </a:xfrm>
          <a:prstGeom prst="chevron">
            <a:avLst/>
          </a:prstGeom>
          <a:solidFill>
            <a:srgbClr val="C8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65008" y="523036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00" b="1" i="0">
                <a:solidFill>
                  <a:srgbClr val="005889"/>
                </a:solidFill>
                <a:latin typeface="微软雅黑"/>
              </a:rPr>
              <a:t>主动触发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08592" y="52303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00" b="1" i="0">
                <a:solidFill>
                  <a:srgbClr val="45BA7D"/>
                </a:solidFill>
                <a:latin typeface="微软雅黑"/>
              </a:rPr>
              <a:t>自动触发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6012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00" b="1" i="0">
                <a:solidFill>
                  <a:srgbClr val="373545"/>
                </a:solidFill>
                <a:latin typeface="微软雅黑"/>
              </a:rPr>
              <a:t>长链路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482803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00" b="1" i="0">
                <a:solidFill>
                  <a:srgbClr val="373545"/>
                </a:solidFill>
                <a:latin typeface="微软雅黑"/>
              </a:rPr>
              <a:t>局部任务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83080" y="3794760"/>
            <a:ext cx="2148840" cy="1005840"/>
          </a:xfrm>
          <a:prstGeom prst="roundRect">
            <a:avLst>
              <a:gd name="adj" fmla="val 16000"/>
            </a:avLst>
          </a:prstGeom>
          <a:solidFill>
            <a:srgbClr val="FFF6DB"/>
          </a:solidFill>
          <a:ln w="1905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929384" y="3904488"/>
            <a:ext cx="822960" cy="256032"/>
          </a:xfrm>
          <a:prstGeom prst="roundRect">
            <a:avLst>
              <a:gd name="adj" fmla="val 22000"/>
            </a:avLst>
          </a:prstGeom>
          <a:solidFill>
            <a:srgbClr val="FFC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56816" y="3904488"/>
            <a:ext cx="76809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9384" y="4233672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 i="0">
                <a:solidFill>
                  <a:srgbClr val="FFC757"/>
                </a:solidFill>
                <a:latin typeface="微软雅黑"/>
              </a:rP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9384" y="4581144"/>
            <a:ext cx="1856232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定义边界和禁区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40280" y="2148840"/>
            <a:ext cx="2834640" cy="1371600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905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386584" y="2258568"/>
            <a:ext cx="822960" cy="256032"/>
          </a:xfrm>
          <a:prstGeom prst="roundRect">
            <a:avLst>
              <a:gd name="adj" fmla="val 22000"/>
            </a:avLst>
          </a:prstGeom>
          <a:solidFill>
            <a:srgbClr val="005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14016" y="2258568"/>
            <a:ext cx="76809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主动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86584" y="2587752"/>
            <a:ext cx="25420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 i="0">
                <a:solidFill>
                  <a:srgbClr val="005889"/>
                </a:solidFill>
                <a:latin typeface="微软雅黑"/>
              </a:rPr>
              <a:t>Skill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86584" y="2935224"/>
            <a:ext cx="2542032" cy="8778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用户主动发起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高频工作流稳定复用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611880"/>
            <a:ext cx="2743200" cy="1188720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905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45936" y="3721608"/>
            <a:ext cx="822960" cy="256032"/>
          </a:xfrm>
          <a:prstGeom prst="roundRect">
            <a:avLst>
              <a:gd name="adj" fmla="val 22000"/>
            </a:avLst>
          </a:prstGeom>
          <a:solidFill>
            <a:srgbClr val="45B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3721608"/>
            <a:ext cx="76809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自动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4050792"/>
            <a:ext cx="24505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 i="0">
                <a:solidFill>
                  <a:srgbClr val="45BA7D"/>
                </a:solidFill>
                <a:latin typeface="微软雅黑"/>
              </a:rPr>
              <a:t>Hook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36" y="4398264"/>
            <a:ext cx="2450592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事件一发生就自动守门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适合风险拦截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7960" y="1691640"/>
            <a:ext cx="3063240" cy="1600200"/>
          </a:xfrm>
          <a:prstGeom prst="roundRect">
            <a:avLst>
              <a:gd name="adj" fmla="val 16000"/>
            </a:avLst>
          </a:prstGeom>
          <a:solidFill>
            <a:srgbClr val="FFEEEA"/>
          </a:solidFill>
          <a:ln w="1905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684264" y="1801368"/>
            <a:ext cx="822960" cy="256032"/>
          </a:xfrm>
          <a:prstGeom prst="roundRect">
            <a:avLst>
              <a:gd name="adj" fmla="val 22000"/>
            </a:avLst>
          </a:prstGeom>
          <a:solidFill>
            <a:srgbClr val="FF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1801368"/>
            <a:ext cx="76809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长链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84264" y="2130552"/>
            <a:ext cx="27706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 i="0">
                <a:solidFill>
                  <a:srgbClr val="FF8F82"/>
                </a:solidFill>
                <a:latin typeface="微软雅黑"/>
              </a:rPr>
              <a:t>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84264" y="2478024"/>
            <a:ext cx="2770632" cy="11064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跨阶段、跨上下文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需要更强自主推进能力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40280" y="5376672"/>
            <a:ext cx="70408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 i="0">
                <a:solidFill>
                  <a:srgbClr val="1F2D38"/>
                </a:solidFill>
                <a:latin typeface="微软雅黑"/>
              </a:rPr>
              <a:t>先想 Skill / Hook，很多问题会比直接做 Agent 更稳。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anchor="ctr"/>
          <a:lstStyle/>
          <a:p>
            <a:pPr algn="l"/>
            <a:r>
              <a:rPr sz="2000" b="1" i="0">
                <a:solidFill>
                  <a:srgbClr val="54585A"/>
                </a:solidFill>
                <a:latin typeface="微软雅黑"/>
              </a:rPr>
              <a:t>Skill 最适合承接高频、主动发起、需要固定输出的任务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pPr algn="l"/>
            <a:r>
              <a:rPr sz="1200" b="0" i="0">
                <a:solidFill>
                  <a:srgbClr val="54585A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12064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Skill 最适合承接那些会被反复主动发起、流程相对稳定、输出结果有明确形状的任务。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4526280" cy="15544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490472"/>
            <a:ext cx="423367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700" b="1" i="0">
                <a:solidFill>
                  <a:srgbClr val="005889"/>
                </a:solidFill>
                <a:latin typeface="微软雅黑"/>
              </a:rPr>
              <a:t>工程类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837944"/>
            <a:ext cx="4233672" cy="10607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修 bug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补测试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做 code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325880"/>
            <a:ext cx="4526280" cy="15544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61304" y="1490472"/>
            <a:ext cx="423367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700" b="1" i="0">
                <a:solidFill>
                  <a:srgbClr val="45BA7D"/>
                </a:solidFill>
                <a:latin typeface="微软雅黑"/>
              </a:rPr>
              <a:t>文档类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1304" y="1837944"/>
            <a:ext cx="4233672" cy="10607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写需求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整理日报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生成发布说明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00400"/>
            <a:ext cx="4526280" cy="15544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3364992"/>
            <a:ext cx="423367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700" b="1" i="0">
                <a:solidFill>
                  <a:srgbClr val="FFC757"/>
                </a:solidFill>
                <a:latin typeface="微软雅黑"/>
              </a:rPr>
              <a:t>分析类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712464"/>
            <a:ext cx="4233672" cy="10607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竞品分析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问题排查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风险评估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0" y="3200400"/>
            <a:ext cx="4526280" cy="15544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61304" y="3364992"/>
            <a:ext cx="423367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700" b="1" i="0">
                <a:solidFill>
                  <a:srgbClr val="FF8F82"/>
                </a:solidFill>
                <a:latin typeface="微软雅黑"/>
              </a:rPr>
              <a:t>协作类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61304" y="3712464"/>
            <a:ext cx="4233672" cy="10607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会议纪要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交接说明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验收总结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074920"/>
            <a:ext cx="9098280" cy="438912"/>
          </a:xfrm>
          <a:prstGeom prst="roundRect">
            <a:avLst>
              <a:gd name="adj" fmla="val 18000"/>
            </a:avLst>
          </a:prstGeom>
          <a:solidFill>
            <a:srgbClr val="F4F8FB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 i="0">
                <a:solidFill>
                  <a:srgbClr val="1F2D38"/>
                </a:solidFill>
                <a:latin typeface="微软雅黑"/>
              </a:rPr>
              <a:t>共性特征：主动触发 + 流程稳定 + 输出有明确形状。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anchor="ctr"/>
          <a:lstStyle/>
          <a:p>
            <a:pPr algn="l"/>
            <a:r>
              <a:rPr sz="2000" b="1" i="0">
                <a:solidFill>
                  <a:srgbClr val="54585A"/>
                </a:solidFill>
                <a:latin typeface="微软雅黑"/>
              </a:rPr>
              <a:t>做 Skill 的收益，不只是提效，而是让经验变成团队资产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pPr algn="l"/>
            <a:r>
              <a:rPr sz="1200" b="0" i="0">
                <a:solidFill>
                  <a:srgbClr val="54585A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12064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Skill 的收益不只是提效，而是把个人经验、团队协作和治理抓手一起沉淀下来。</a:t>
            </a:r>
          </a:p>
        </p:txBody>
      </p:sp>
      <p:sp>
        <p:nvSpPr>
          <p:cNvPr id="5" name="Oval 4"/>
          <p:cNvSpPr/>
          <p:nvPr/>
        </p:nvSpPr>
        <p:spPr>
          <a:xfrm>
            <a:off x="4370832" y="2011680"/>
            <a:ext cx="1847088" cy="1847088"/>
          </a:xfrm>
          <a:prstGeom prst="ellipse">
            <a:avLst/>
          </a:prstGeom>
          <a:solidFill>
            <a:srgbClr val="005889"/>
          </a:solidFill>
          <a:ln w="2540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43984" y="2267712"/>
            <a:ext cx="1700784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</a:rPr>
              <a:t>团队
资产化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572768"/>
            <a:ext cx="2651760" cy="1335024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905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43584" y="1737360"/>
            <a:ext cx="235915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1" i="0">
                <a:solidFill>
                  <a:srgbClr val="005889"/>
                </a:solidFill>
                <a:latin typeface="微软雅黑"/>
              </a:rPr>
              <a:t>复用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3584" y="2084832"/>
            <a:ext cx="2359152" cy="841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减少重复解释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让同类任务直接复用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572768"/>
            <a:ext cx="2651760" cy="1335024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905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52944" y="1737360"/>
            <a:ext cx="235915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1" i="0">
                <a:solidFill>
                  <a:srgbClr val="45BA7D"/>
                </a:solidFill>
                <a:latin typeface="微软雅黑"/>
              </a:rPr>
              <a:t>稳定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52944" y="2084832"/>
            <a:ext cx="2359152" cy="841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减少风格漂移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减少步骤遗漏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675887"/>
            <a:ext cx="2651760" cy="1335024"/>
          </a:xfrm>
          <a:prstGeom prst="roundRect">
            <a:avLst>
              <a:gd name="adj" fmla="val 16000"/>
            </a:avLst>
          </a:prstGeom>
          <a:solidFill>
            <a:srgbClr val="FFF6DB"/>
          </a:solidFill>
          <a:ln w="1905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3584" y="3840479"/>
            <a:ext cx="235915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1" i="0">
                <a:solidFill>
                  <a:srgbClr val="FFC757"/>
                </a:solidFill>
                <a:latin typeface="微软雅黑"/>
              </a:rPr>
              <a:t>协作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3584" y="4187951"/>
            <a:ext cx="2359152" cy="841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不同角色站在同一流程起点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输出更容易对齐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3675887"/>
            <a:ext cx="2651760" cy="1335024"/>
          </a:xfrm>
          <a:prstGeom prst="roundRect">
            <a:avLst>
              <a:gd name="adj" fmla="val 16000"/>
            </a:avLst>
          </a:prstGeom>
          <a:solidFill>
            <a:srgbClr val="FFEEEA"/>
          </a:solidFill>
          <a:ln w="1905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2944" y="3840479"/>
            <a:ext cx="235915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1" i="0">
                <a:solidFill>
                  <a:srgbClr val="FF8F82"/>
                </a:solidFill>
                <a:latin typeface="微软雅黑"/>
              </a:rPr>
              <a:t>传承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2944" y="4187951"/>
            <a:ext cx="2359152" cy="841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把少数人的经验沉淀成团队能力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让新成员更快接上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30752" y="2304288"/>
            <a:ext cx="640080" cy="438912"/>
          </a:xfrm>
          <a:prstGeom prst="line">
            <a:avLst/>
          </a:prstGeom>
          <a:ln w="17780">
            <a:solidFill>
              <a:srgbClr val="C8D9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217920" y="2304288"/>
            <a:ext cx="1188720" cy="438912"/>
          </a:xfrm>
          <a:prstGeom prst="line">
            <a:avLst/>
          </a:prstGeom>
          <a:ln w="17780">
            <a:solidFill>
              <a:srgbClr val="C8D9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730752" y="3749039"/>
            <a:ext cx="640080" cy="594361"/>
          </a:xfrm>
          <a:prstGeom prst="line">
            <a:avLst/>
          </a:prstGeom>
          <a:ln w="17780">
            <a:solidFill>
              <a:srgbClr val="C8D9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6217920" y="3749039"/>
            <a:ext cx="1188720" cy="594361"/>
          </a:xfrm>
          <a:prstGeom prst="line">
            <a:avLst/>
          </a:prstGeom>
          <a:ln w="17780">
            <a:solidFill>
              <a:srgbClr val="C8D9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920240" y="5138928"/>
            <a:ext cx="7132320" cy="38404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 i="0">
                <a:solidFill>
                  <a:srgbClr val="1F2D38"/>
                </a:solidFill>
                <a:latin typeface="微软雅黑"/>
              </a:rPr>
              <a:t>治理收益：更容易挂接反馈、评估效果并持续维护。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anchor="ctr"/>
          <a:lstStyle/>
          <a:p>
            <a:pPr algn="l"/>
            <a:r>
              <a:rPr sz="2000" b="1" i="0">
                <a:solidFill>
                  <a:srgbClr val="54585A"/>
                </a:solidFill>
                <a:latin typeface="微软雅黑"/>
              </a:rPr>
              <a:t>不是所有流程都值得做成 Skill，先看频率、稳定性和可验证性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pPr algn="l"/>
            <a:r>
              <a:rPr sz="1200" b="0" i="0">
                <a:solidFill>
                  <a:srgbClr val="54585A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12064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做 Skill 之前先看高频、稳定、可验证，避免把一次性任务和噪音流程硬沉淀成资产。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98448"/>
            <a:ext cx="3657600" cy="3611880"/>
          </a:xfrm>
          <a:prstGeom prst="roundRect">
            <a:avLst>
              <a:gd name="adj" fmla="val 14000"/>
            </a:avLst>
          </a:prstGeom>
          <a:solidFill>
            <a:srgbClr val="F4F8FB"/>
          </a:solidFill>
          <a:ln w="1778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99616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 i="0">
                <a:solidFill>
                  <a:srgbClr val="005889"/>
                </a:solidFill>
                <a:latin typeface="微软雅黑"/>
              </a:rPr>
              <a:t>值得做的三个判断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38528"/>
            <a:ext cx="786384" cy="292608"/>
          </a:xfrm>
          <a:prstGeom prst="roundRect">
            <a:avLst>
              <a:gd name="adj" fmla="val 20000"/>
            </a:avLst>
          </a:prstGeom>
          <a:solidFill>
            <a:srgbClr val="005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56816"/>
            <a:ext cx="621792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01 高频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920240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0" i="0">
                <a:solidFill>
                  <a:srgbClr val="1F2D38"/>
                </a:solidFill>
                <a:latin typeface="微软雅黑"/>
              </a:rPr>
              <a:t>是不是会重复出现，值得沉淀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834640"/>
            <a:ext cx="786384" cy="292608"/>
          </a:xfrm>
          <a:prstGeom prst="roundRect">
            <a:avLst>
              <a:gd name="adj" fmla="val 20000"/>
            </a:avLst>
          </a:prstGeom>
          <a:solidFill>
            <a:srgbClr val="45B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852928"/>
            <a:ext cx="621792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02 稳定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816352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0" i="0">
                <a:solidFill>
                  <a:srgbClr val="1F2D38"/>
                </a:solidFill>
                <a:latin typeface="微软雅黑"/>
              </a:rPr>
              <a:t>步骤和边界是否相对固定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30752"/>
            <a:ext cx="786384" cy="292608"/>
          </a:xfrm>
          <a:prstGeom prst="roundRect">
            <a:avLst>
              <a:gd name="adj" fmla="val 20000"/>
            </a:avLst>
          </a:prstGeom>
          <a:solidFill>
            <a:srgbClr val="FFC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749040"/>
            <a:ext cx="621792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03 可验证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712464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0" i="0">
                <a:solidFill>
                  <a:srgbClr val="1F2D38"/>
                </a:solidFill>
                <a:latin typeface="微软雅黑"/>
              </a:rPr>
              <a:t>结果是否容易验收与回看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1444752"/>
            <a:ext cx="5212080" cy="877824"/>
          </a:xfrm>
          <a:prstGeom prst="roundRect">
            <a:avLst>
              <a:gd name="adj" fmla="val 16000"/>
            </a:avLst>
          </a:prstGeom>
          <a:solidFill>
            <a:srgbClr val="FFEEEA"/>
          </a:solidFill>
          <a:ln w="1905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55464" y="1554480"/>
            <a:ext cx="822960" cy="256032"/>
          </a:xfrm>
          <a:prstGeom prst="roundRect">
            <a:avLst>
              <a:gd name="adj" fmla="val 22000"/>
            </a:avLst>
          </a:prstGeom>
          <a:solidFill>
            <a:srgbClr val="FF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82896" y="1554480"/>
            <a:ext cx="76809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反例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5464" y="1883664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1" i="0">
                <a:solidFill>
                  <a:srgbClr val="FF8F82"/>
                </a:solidFill>
                <a:latin typeface="微软雅黑"/>
              </a:rPr>
              <a:t>一次性任务也硬沉淀成 Skill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55464" y="2231136"/>
            <a:ext cx="491947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4709160" y="2578608"/>
            <a:ext cx="5212080" cy="877824"/>
          </a:xfrm>
          <a:prstGeom prst="roundRect">
            <a:avLst>
              <a:gd name="adj" fmla="val 16000"/>
            </a:avLst>
          </a:prstGeom>
          <a:solidFill>
            <a:srgbClr val="FFF6DB"/>
          </a:solidFill>
          <a:ln w="1905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55464" y="2688336"/>
            <a:ext cx="822960" cy="256032"/>
          </a:xfrm>
          <a:prstGeom prst="roundRect">
            <a:avLst>
              <a:gd name="adj" fmla="val 22000"/>
            </a:avLst>
          </a:prstGeom>
          <a:solidFill>
            <a:srgbClr val="FFC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82896" y="2688336"/>
            <a:ext cx="76809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反例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55464" y="3017520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1" i="0">
                <a:solidFill>
                  <a:srgbClr val="FFC757"/>
                </a:solidFill>
                <a:latin typeface="微软雅黑"/>
              </a:rPr>
              <a:t>边界不清、人人理解不同的流程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55464" y="3364992"/>
            <a:ext cx="491947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4709160" y="3712464"/>
            <a:ext cx="5212080" cy="877824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905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55464" y="3822192"/>
            <a:ext cx="822960" cy="256032"/>
          </a:xfrm>
          <a:prstGeom prst="roundRect">
            <a:avLst>
              <a:gd name="adj" fmla="val 22000"/>
            </a:avLst>
          </a:prstGeom>
          <a:solidFill>
            <a:srgbClr val="45B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82896" y="3822192"/>
            <a:ext cx="76809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反例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55464" y="4151376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1" i="0">
                <a:solidFill>
                  <a:srgbClr val="45BA7D"/>
                </a:solidFill>
                <a:latin typeface="微软雅黑"/>
              </a:rPr>
              <a:t>本该自动执行的守门逻辑却做成 Skill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55464" y="4498848"/>
            <a:ext cx="491947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4709160" y="4590288"/>
            <a:ext cx="5212080" cy="49377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 i="0">
                <a:solidFill>
                  <a:srgbClr val="1F2D38"/>
                </a:solidFill>
                <a:latin typeface="微软雅黑"/>
              </a:rPr>
              <a:t>先做判断，再做制作，能显著降低噪音资产。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64592"/>
            <a:ext cx="99669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100" b="1" i="0">
                <a:solidFill>
                  <a:srgbClr val="54585A"/>
                </a:solidFill>
                <a:latin typeface="微软雅黑"/>
              </a:rPr>
              <a:t>第一个 Skill 不要做大，先把触发条件和输出形状写对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12064"/>
            <a:ext cx="987552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第一个 Skill 先把触发条件、边界、步骤顺序和输出格式写对，不求一步做大。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4892040" cy="4114800"/>
          </a:xfrm>
          <a:prstGeom prst="roundRect">
            <a:avLst>
              <a:gd name="adj" fmla="val 14000"/>
            </a:avLst>
          </a:prstGeom>
          <a:solidFill>
            <a:srgbClr val="373545"/>
          </a:solidFill>
          <a:ln w="1651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1" i="0">
                <a:solidFill>
                  <a:srgbClr val="009AD8"/>
                </a:solidFill>
                <a:latin typeface="微软雅黑"/>
              </a:rPr>
              <a:t>最小 Skill 骨架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00784"/>
            <a:ext cx="438912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---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name: fix-bug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description: 在用户描述 bug、报错、失败测试、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 xml:space="preserve">  异常回归时使用。先定位根因，再做最小修复，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 xml:space="preserve">  并补一个回归验证。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---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1. 先复述现象、影响范围和复现条件。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2. 搜索相关代码、日志和最近改动，确认根因。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3. 只做最小修复，不顺手重构无关部分。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4. 补一个最贴近故障面的验证。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5. 输出：根因、修改点、验证结果、剩余风险。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53312"/>
            <a:ext cx="4297680" cy="731520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524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07024" y="1463040"/>
            <a:ext cx="822960" cy="256032"/>
          </a:xfrm>
          <a:prstGeom prst="roundRect">
            <a:avLst>
              <a:gd name="adj" fmla="val 22000"/>
            </a:avLst>
          </a:prstGeom>
          <a:solidFill>
            <a:srgbClr val="005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34456" y="1463040"/>
            <a:ext cx="76809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第一步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07024" y="1792224"/>
            <a:ext cx="400507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1" i="0">
                <a:solidFill>
                  <a:srgbClr val="005889"/>
                </a:solidFill>
                <a:latin typeface="微软雅黑"/>
              </a:rPr>
              <a:t>写清什么时候该触发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7024" y="2139696"/>
            <a:ext cx="4005072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760720" y="2249424"/>
            <a:ext cx="4297680" cy="731520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524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07024" y="2359152"/>
            <a:ext cx="822960" cy="256032"/>
          </a:xfrm>
          <a:prstGeom prst="roundRect">
            <a:avLst>
              <a:gd name="adj" fmla="val 22000"/>
            </a:avLst>
          </a:prstGeom>
          <a:solidFill>
            <a:srgbClr val="45B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34456" y="2359152"/>
            <a:ext cx="76809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第二步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7024" y="2688336"/>
            <a:ext cx="400507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1" i="0">
                <a:solidFill>
                  <a:srgbClr val="45BA7D"/>
                </a:solidFill>
                <a:latin typeface="微软雅黑"/>
              </a:rPr>
              <a:t>写清什么时候不该触发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7024" y="3035808"/>
            <a:ext cx="4005072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5760720" y="3145536"/>
            <a:ext cx="4297680" cy="731520"/>
          </a:xfrm>
          <a:prstGeom prst="roundRect">
            <a:avLst>
              <a:gd name="adj" fmla="val 16000"/>
            </a:avLst>
          </a:prstGeom>
          <a:solidFill>
            <a:srgbClr val="FFF6DB"/>
          </a:solidFill>
          <a:ln w="1524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07024" y="3255264"/>
            <a:ext cx="822960" cy="256032"/>
          </a:xfrm>
          <a:prstGeom prst="roundRect">
            <a:avLst>
              <a:gd name="adj" fmla="val 22000"/>
            </a:avLst>
          </a:prstGeom>
          <a:solidFill>
            <a:srgbClr val="FFC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34456" y="3255264"/>
            <a:ext cx="76809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第三步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7024" y="3584448"/>
            <a:ext cx="400507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1" i="0">
                <a:solidFill>
                  <a:srgbClr val="FFC757"/>
                </a:solidFill>
                <a:latin typeface="微软雅黑"/>
              </a:rPr>
              <a:t>写清步骤顺序和输出格式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7024" y="3931920"/>
            <a:ext cx="4005072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5760720" y="4041648"/>
            <a:ext cx="4297680" cy="731520"/>
          </a:xfrm>
          <a:prstGeom prst="roundRect">
            <a:avLst>
              <a:gd name="adj" fmla="val 16000"/>
            </a:avLst>
          </a:prstGeom>
          <a:solidFill>
            <a:srgbClr val="FFEEEA"/>
          </a:solidFill>
          <a:ln w="1524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907024" y="4151376"/>
            <a:ext cx="822960" cy="256032"/>
          </a:xfrm>
          <a:prstGeom prst="roundRect">
            <a:avLst>
              <a:gd name="adj" fmla="val 22000"/>
            </a:avLst>
          </a:prstGeom>
          <a:solidFill>
            <a:srgbClr val="FF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34456" y="4151376"/>
            <a:ext cx="76809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第四步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07024" y="4480560"/>
            <a:ext cx="400507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1" i="0">
                <a:solidFill>
                  <a:srgbClr val="FF8F82"/>
                </a:solidFill>
                <a:latin typeface="微软雅黑"/>
              </a:rPr>
              <a:t>写清限制条件，不让它越界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07024" y="4828032"/>
            <a:ext cx="4005072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5760720" y="5102352"/>
            <a:ext cx="429768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 i="0">
                <a:solidFill>
                  <a:srgbClr val="1F2D38"/>
                </a:solidFill>
                <a:latin typeface="微软雅黑"/>
              </a:rPr>
              <a:t>第一个版本先求稳，不求全。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anchor="ctr"/>
          <a:lstStyle/>
          <a:p>
            <a:pPr algn="l"/>
            <a:r>
              <a:rPr sz="2000" b="1" i="0">
                <a:solidFill>
                  <a:srgbClr val="54585A"/>
                </a:solidFill>
                <a:latin typeface="微软雅黑"/>
              </a:rPr>
              <a:t>先有通用 Skill 本体，再做宿主适配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pPr algn="l"/>
            <a:r>
              <a:rPr sz="1200" b="0" i="0">
                <a:solidFill>
                  <a:srgbClr val="54585A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12064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先定义通用 Skill 本体，再补脚本和参考资料，最后映射到不同宿主入口。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024128"/>
            <a:ext cx="8595360" cy="960120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905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9304" y="1188720"/>
            <a:ext cx="830275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 i="0">
                <a:solidFill>
                  <a:srgbClr val="005889"/>
                </a:solidFill>
                <a:latin typeface="微软雅黑"/>
              </a:rPr>
              <a:t>第一层｜通用 Skill 本体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9304" y="1536192"/>
            <a:ext cx="8302752" cy="4663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通常是一份 &lt;skill-name&gt;/SKILL.md，描述触发条件、步骤顺序、边界和输出。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2359152"/>
            <a:ext cx="8595360" cy="960120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905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9304" y="2523744"/>
            <a:ext cx="830275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 i="0">
                <a:solidFill>
                  <a:srgbClr val="45BA7D"/>
                </a:solidFill>
                <a:latin typeface="微软雅黑"/>
              </a:rPr>
              <a:t>第二层｜按需补资源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9304" y="2871216"/>
            <a:ext cx="8302752" cy="4663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根据任务复杂度追加 scripts/、references/、assets/，把可执行资源和资料一起带上。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703320"/>
            <a:ext cx="8595360" cy="960120"/>
          </a:xfrm>
          <a:prstGeom prst="roundRect">
            <a:avLst>
              <a:gd name="adj" fmla="val 16000"/>
            </a:avLst>
          </a:prstGeom>
          <a:solidFill>
            <a:srgbClr val="FFF6DB"/>
          </a:solidFill>
          <a:ln w="1905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9304" y="3867912"/>
            <a:ext cx="830275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 i="0">
                <a:solidFill>
                  <a:srgbClr val="FFC757"/>
                </a:solidFill>
                <a:latin typeface="微软雅黑"/>
              </a:rPr>
              <a:t>第三层｜宿主适配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" y="4215384"/>
            <a:ext cx="8302752" cy="4663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再映射到 Claude、Codex 或其他宿主；入口是适配层，不是 Skill 的唯一真实形态。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4983480"/>
            <a:ext cx="1554480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 i="0">
                <a:solidFill>
                  <a:srgbClr val="005889"/>
                </a:solidFill>
                <a:latin typeface="微软雅黑"/>
              </a:rPr>
              <a:t>Claude：/skill-name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4983480"/>
            <a:ext cx="1554480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 i="0">
                <a:solidFill>
                  <a:srgbClr val="45BA7D"/>
                </a:solidFill>
                <a:latin typeface="微软雅黑"/>
              </a:rPr>
              <a:t>Codex：$skill-name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4983480"/>
            <a:ext cx="1554480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1" i="0">
                <a:solidFill>
                  <a:srgbClr val="FFC757"/>
                </a:solidFill>
                <a:latin typeface="微软雅黑"/>
              </a:rPr>
              <a:t>其他宿主：适配入口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anchor="ctr"/>
          <a:lstStyle/>
          <a:p>
            <a:pPr algn="l"/>
            <a:r>
              <a:rPr sz="2000" b="1" i="0">
                <a:solidFill>
                  <a:srgbClr val="54585A"/>
                </a:solidFill>
                <a:latin typeface="微软雅黑"/>
              </a:rPr>
              <a:t>真正反复出错的不是“不会写”，而是“写得不像这个项目”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pPr algn="l"/>
            <a:r>
              <a:rPr sz="1200" b="0" i="0">
                <a:solidFill>
                  <a:srgbClr val="54585A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12064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很多反复出错的地方不是语言能力问题，而是项目风格判断没有被固定成流程。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89888"/>
            <a:ext cx="4251960" cy="3474720"/>
          </a:xfrm>
          <a:prstGeom prst="roundRect">
            <a:avLst>
              <a:gd name="adj" fmla="val 16000"/>
            </a:avLst>
          </a:prstGeom>
          <a:solidFill>
            <a:srgbClr val="FFEEEA"/>
          </a:solidFill>
          <a:ln w="1905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554480"/>
            <a:ext cx="395935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 i="0">
                <a:solidFill>
                  <a:srgbClr val="FF8F82"/>
                </a:solidFill>
                <a:latin typeface="微软雅黑"/>
              </a:rPr>
              <a:t>没有 Skill 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901952"/>
            <a:ext cx="3959352" cy="2980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模块页、示例页、导读页容易混成一种写法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AI 只看局部段落就开始改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原本的教学节奏和仓库风格被打乱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389888"/>
            <a:ext cx="3749039" cy="3474720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905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27064" y="1554480"/>
            <a:ext cx="3456431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 i="0">
                <a:solidFill>
                  <a:srgbClr val="45BA7D"/>
                </a:solidFill>
                <a:latin typeface="微软雅黑"/>
              </a:rPr>
              <a:t>有 docs-writing-style 之后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7064" y="1901952"/>
            <a:ext cx="3456431" cy="2980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先读仓库规则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先分页面类型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再找同类页面参照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最后才开始写和改</a:t>
            </a:r>
          </a:p>
        </p:txBody>
      </p:sp>
      <p:sp>
        <p:nvSpPr>
          <p:cNvPr id="11" name="Chevron 10"/>
          <p:cNvSpPr/>
          <p:nvPr/>
        </p:nvSpPr>
        <p:spPr>
          <a:xfrm>
            <a:off x="5120640" y="2514600"/>
            <a:ext cx="566928" cy="329184"/>
          </a:xfrm>
          <a:prstGeom prst="chevron">
            <a:avLst/>
          </a:prstGeom>
          <a:solidFill>
            <a:srgbClr val="E7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7552" y="5010912"/>
            <a:ext cx="8915400" cy="43891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 i="0">
                <a:solidFill>
                  <a:srgbClr val="1F2D38"/>
                </a:solidFill>
                <a:latin typeface="微软雅黑"/>
              </a:rPr>
              <a:t>关键价值：把“写得像这个仓库”从个人感觉变成可执行流程。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anchor="ctr"/>
          <a:lstStyle/>
          <a:p>
            <a:pPr algn="l"/>
            <a:r>
              <a:rPr sz="2000" b="1" i="0">
                <a:solidFill>
                  <a:srgbClr val="54585A"/>
                </a:solidFill>
                <a:latin typeface="微软雅黑"/>
              </a:rPr>
              <a:t>Skill 不该只让研发会用，也要让非研发能受益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pPr algn="l"/>
            <a:r>
              <a:rPr sz="1200" b="0" i="0">
                <a:solidFill>
                  <a:srgbClr val="54585A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12064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Skill 既要让不同角色能用，也要让真实使用中的经验能低门槛回流给维护者。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325880"/>
            <a:ext cx="7223760" cy="822960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905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9304" y="1490472"/>
            <a:ext cx="693115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 i="0">
                <a:solidFill>
                  <a:srgbClr val="005889"/>
                </a:solidFill>
                <a:latin typeface="微软雅黑"/>
              </a:rPr>
              <a:t>消费结果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9304" y="1837944"/>
            <a:ext cx="693115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管理者、外部协作方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2487168"/>
            <a:ext cx="7223760" cy="822960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905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9304" y="2651760"/>
            <a:ext cx="693115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 i="0">
                <a:solidFill>
                  <a:srgbClr val="45BA7D"/>
                </a:solidFill>
                <a:latin typeface="微软雅黑"/>
              </a:rPr>
              <a:t>使用 Skill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9304" y="2999232"/>
            <a:ext cx="693115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产品经理、设计师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648456"/>
            <a:ext cx="7223760" cy="822960"/>
          </a:xfrm>
          <a:prstGeom prst="roundRect">
            <a:avLst>
              <a:gd name="adj" fmla="val 16000"/>
            </a:avLst>
          </a:prstGeom>
          <a:solidFill>
            <a:srgbClr val="FFF6DB"/>
          </a:solidFill>
          <a:ln w="1905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9304" y="3813048"/>
            <a:ext cx="693115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 i="0">
                <a:solidFill>
                  <a:srgbClr val="FFC757"/>
                </a:solidFill>
                <a:latin typeface="微软雅黑"/>
              </a:rPr>
              <a:t>维护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" y="4160520"/>
            <a:ext cx="693115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研发、Tech Lead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36592" y="2157984"/>
            <a:ext cx="0" cy="329184"/>
          </a:xfrm>
          <a:prstGeom prst="line">
            <a:avLst/>
          </a:prstGeom>
          <a:ln w="17780">
            <a:solidFill>
              <a:srgbClr val="C8D9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736592" y="3319272"/>
            <a:ext cx="0" cy="329184"/>
          </a:xfrm>
          <a:prstGeom prst="line">
            <a:avLst/>
          </a:prstGeom>
          <a:ln w="17780">
            <a:solidFill>
              <a:srgbClr val="C8D9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641080" y="1719072"/>
            <a:ext cx="1481328" cy="26974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778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05672" y="1865376"/>
            <a:ext cx="1143000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800" b="1" i="0">
                <a:solidFill>
                  <a:srgbClr val="005889"/>
                </a:solidFill>
                <a:latin typeface="微软雅黑"/>
              </a:rPr>
              <a:t>反馈
通道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633472"/>
            <a:ext cx="1097280" cy="12618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真实问题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低门槛提交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经验回写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8366760" y="3035808"/>
            <a:ext cx="274320" cy="0"/>
          </a:xfrm>
          <a:prstGeom prst="line">
            <a:avLst/>
          </a:prstGeom>
          <a:ln w="17780">
            <a:solidFill>
              <a:srgbClr val="C8D9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anchor="ctr"/>
          <a:lstStyle/>
          <a:p>
            <a:pPr algn="l"/>
            <a:r>
              <a:rPr sz="2000" b="1" i="0">
                <a:solidFill>
                  <a:srgbClr val="54585A"/>
                </a:solidFill>
                <a:latin typeface="微软雅黑"/>
              </a:rPr>
              <a:t>先用现成能力，再决定哪些问题值得自建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pPr algn="l"/>
            <a:r>
              <a:rPr sz="1200" b="0" i="0">
                <a:solidFill>
                  <a:srgbClr val="54585A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12064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先复用已经打磨好的现成能力，再把真正带有团队约束的那部分做成自建 Skill。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36192"/>
            <a:ext cx="2148840" cy="2697480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905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700784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 i="0">
                <a:solidFill>
                  <a:srgbClr val="005889"/>
                </a:solidFill>
                <a:latin typeface="微软雅黑"/>
              </a:rPr>
              <a:t>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048256"/>
            <a:ext cx="1856232" cy="22037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读取 PDF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拆分 / 合并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OCR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82111" y="1536192"/>
            <a:ext cx="2148840" cy="2697480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905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5" y="1700784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 i="0">
                <a:solidFill>
                  <a:srgbClr val="45BA7D"/>
                </a:solidFill>
                <a:latin typeface="微软雅黑"/>
              </a:rPr>
              <a:t>docx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28415" y="2048256"/>
            <a:ext cx="1856232" cy="22037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创建 Word 文档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编辑结构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输出专业文稿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24144" y="1536192"/>
            <a:ext cx="2148840" cy="2697480"/>
          </a:xfrm>
          <a:prstGeom prst="roundRect">
            <a:avLst>
              <a:gd name="adj" fmla="val 16000"/>
            </a:avLst>
          </a:prstGeom>
          <a:solidFill>
            <a:srgbClr val="FFF6DB"/>
          </a:solidFill>
          <a:ln w="1905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0448" y="1700784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 i="0">
                <a:solidFill>
                  <a:srgbClr val="FFC757"/>
                </a:solidFill>
                <a:latin typeface="微软雅黑"/>
              </a:rPr>
              <a:t>pptx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2048256"/>
            <a:ext cx="1856232" cy="22037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生成演示稿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编辑页面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复用模板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66175" y="1536192"/>
            <a:ext cx="2148840" cy="2697480"/>
          </a:xfrm>
          <a:prstGeom prst="roundRect">
            <a:avLst>
              <a:gd name="adj" fmla="val 16000"/>
            </a:avLst>
          </a:prstGeom>
          <a:solidFill>
            <a:srgbClr val="FFEEEA"/>
          </a:solidFill>
          <a:ln w="1905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9" y="1700784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 i="0">
                <a:solidFill>
                  <a:srgbClr val="FF8F82"/>
                </a:solidFill>
                <a:latin typeface="微软雅黑"/>
              </a:rPr>
              <a:t>skill-creator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9" y="2048256"/>
            <a:ext cx="1856232" cy="22037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从零创建 Skill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迭代说明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完善触发规则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892040"/>
            <a:ext cx="8869680" cy="53035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300" b="1" i="0">
                <a:solidFill>
                  <a:srgbClr val="1F2D38"/>
                </a:solidFill>
                <a:latin typeface="微软雅黑"/>
              </a:rPr>
              <a:t>判断线：先问“有没有现成能力”，再问“哪些问题真的值得自建”。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64592"/>
            <a:ext cx="99669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100" b="1" i="0">
                <a:solidFill>
                  <a:srgbClr val="54585A"/>
                </a:solidFill>
                <a:latin typeface="微软雅黑"/>
              </a:rPr>
              <a:t>gstack、superpowers、GSD 分别代表三种不同的进阶方向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12064"/>
            <a:ext cx="987552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三套外部案例最值得借的是结构价值，不是命令数量：它们分别强调角色编排、流程闭环和上下文稳定。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234440"/>
            <a:ext cx="2907792" cy="3584448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905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4672" y="1344168"/>
            <a:ext cx="822960" cy="256032"/>
          </a:xfrm>
          <a:prstGeom prst="roundRect">
            <a:avLst>
              <a:gd name="adj" fmla="val 22000"/>
            </a:avLst>
          </a:prstGeom>
          <a:solidFill>
            <a:srgbClr val="005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1344168"/>
            <a:ext cx="76809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角色编排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673352"/>
            <a:ext cx="261518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000" b="1" i="0">
                <a:solidFill>
                  <a:srgbClr val="005889"/>
                </a:solidFill>
                <a:latin typeface="微软雅黑"/>
              </a:rPr>
              <a:t>gstack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020824"/>
            <a:ext cx="2615184" cy="3090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更像角色化 Skill Pack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强调多视角显式编排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234440"/>
            <a:ext cx="2907792" cy="3584448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905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15384" y="1344168"/>
            <a:ext cx="822960" cy="256032"/>
          </a:xfrm>
          <a:prstGeom prst="roundRect">
            <a:avLst>
              <a:gd name="adj" fmla="val 22000"/>
            </a:avLst>
          </a:prstGeom>
          <a:solidFill>
            <a:srgbClr val="45B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42816" y="1344168"/>
            <a:ext cx="76809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流程闭环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15384" y="1673352"/>
            <a:ext cx="261518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000" b="1" i="0">
                <a:solidFill>
                  <a:srgbClr val="45BA7D"/>
                </a:solidFill>
                <a:latin typeface="微软雅黑"/>
              </a:rPr>
              <a:t>superpowers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15384" y="2020824"/>
            <a:ext cx="2615184" cy="3090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更像默认工程流水线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强调设计先行、计划驱动、验证闭环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9792" y="1234440"/>
            <a:ext cx="2907792" cy="3584448"/>
          </a:xfrm>
          <a:prstGeom prst="roundRect">
            <a:avLst>
              <a:gd name="adj" fmla="val 16000"/>
            </a:avLst>
          </a:prstGeom>
          <a:solidFill>
            <a:srgbClr val="FFF6DB"/>
          </a:solidFill>
          <a:ln w="1905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26096" y="1344168"/>
            <a:ext cx="822960" cy="256032"/>
          </a:xfrm>
          <a:prstGeom prst="roundRect">
            <a:avLst>
              <a:gd name="adj" fmla="val 22000"/>
            </a:avLst>
          </a:prstGeom>
          <a:solidFill>
            <a:srgbClr val="FFC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53528" y="1344168"/>
            <a:ext cx="76809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上下文稳定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6096" y="1673352"/>
            <a:ext cx="261518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000" b="1" i="0">
                <a:solidFill>
                  <a:srgbClr val="FFC757"/>
                </a:solidFill>
                <a:latin typeface="微软雅黑"/>
              </a:rPr>
              <a:t>GSD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6096" y="2020824"/>
            <a:ext cx="2615184" cy="3090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更像上下文工程层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强调规格、状态和阶段结论持续稳定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5010912"/>
            <a:ext cx="438912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 i="0">
                <a:solidFill>
                  <a:srgbClr val="1F2D38"/>
                </a:solidFill>
                <a:latin typeface="微软雅黑"/>
              </a:rPr>
              <a:t>结论 1：三者不是谁更强，而是解决的问题不同。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59552" y="5010912"/>
            <a:ext cx="3931920" cy="42062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 i="0">
                <a:solidFill>
                  <a:srgbClr val="1F2D38"/>
                </a:solidFill>
                <a:latin typeface="微软雅黑"/>
              </a:rPr>
              <a:t>结论 2：先借结构，再决定是否引入。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64592"/>
            <a:ext cx="99669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100" b="1" i="0">
                <a:solidFill>
                  <a:srgbClr val="54585A"/>
                </a:solidFill>
                <a:latin typeface="微软雅黑"/>
              </a:rPr>
              <a:t>团队 30 天落地，不要先铺满，而要先跑通最小闭环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512064"/>
            <a:ext cx="987552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团队 30 天落地最稳的做法，是先跑通一个最小闭环，而不是一开始堆很多 Skill。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60120" y="3218688"/>
            <a:ext cx="8842248" cy="0"/>
          </a:xfrm>
          <a:prstGeom prst="line">
            <a:avLst/>
          </a:prstGeom>
          <a:ln w="25400">
            <a:solidFill>
              <a:srgbClr val="C8D9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987552" y="2331720"/>
            <a:ext cx="713232" cy="713232"/>
          </a:xfrm>
          <a:prstGeom prst="ellipse">
            <a:avLst/>
          </a:prstGeom>
          <a:solidFill>
            <a:srgbClr val="005889"/>
          </a:solidFill>
          <a:ln w="2540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" y="2587752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3520440"/>
            <a:ext cx="1828800" cy="1133856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905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3685032"/>
            <a:ext cx="15361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 i="0">
                <a:solidFill>
                  <a:srgbClr val="005889"/>
                </a:solidFill>
                <a:latin typeface="微软雅黑"/>
              </a:rPr>
              <a:t>第 1 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4032504"/>
            <a:ext cx="1536192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选 1 个每周至少做两次的高频任务</a:t>
            </a:r>
          </a:p>
        </p:txBody>
      </p:sp>
      <p:sp>
        <p:nvSpPr>
          <p:cNvPr id="10" name="Oval 9"/>
          <p:cNvSpPr/>
          <p:nvPr/>
        </p:nvSpPr>
        <p:spPr>
          <a:xfrm>
            <a:off x="3273552" y="2331720"/>
            <a:ext cx="713232" cy="713232"/>
          </a:xfrm>
          <a:prstGeom prst="ellipse">
            <a:avLst/>
          </a:prstGeom>
          <a:solidFill>
            <a:srgbClr val="45BA7D"/>
          </a:solidFill>
          <a:ln w="2540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46704" y="2587752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90672" y="3520440"/>
            <a:ext cx="1828800" cy="1133856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905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36976" y="3685032"/>
            <a:ext cx="15361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 i="0">
                <a:solidFill>
                  <a:srgbClr val="45BA7D"/>
                </a:solidFill>
                <a:latin typeface="微软雅黑"/>
              </a:rPr>
              <a:t>第 2 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6976" y="4032504"/>
            <a:ext cx="1536192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选 1 个真正能拦住风险的动作</a:t>
            </a:r>
          </a:p>
        </p:txBody>
      </p:sp>
      <p:sp>
        <p:nvSpPr>
          <p:cNvPr id="15" name="Oval 14"/>
          <p:cNvSpPr/>
          <p:nvPr/>
        </p:nvSpPr>
        <p:spPr>
          <a:xfrm>
            <a:off x="5559552" y="2331720"/>
            <a:ext cx="713232" cy="713232"/>
          </a:xfrm>
          <a:prstGeom prst="ellipse">
            <a:avLst/>
          </a:prstGeom>
          <a:solidFill>
            <a:srgbClr val="FFC757"/>
          </a:solidFill>
          <a:ln w="2540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32704" y="2587752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76672" y="3520440"/>
            <a:ext cx="1828800" cy="1133856"/>
          </a:xfrm>
          <a:prstGeom prst="roundRect">
            <a:avLst>
              <a:gd name="adj" fmla="val 16000"/>
            </a:avLst>
          </a:prstGeom>
          <a:solidFill>
            <a:srgbClr val="FFF6DB"/>
          </a:solidFill>
          <a:ln w="1905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22976" y="3685032"/>
            <a:ext cx="15361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 i="0">
                <a:solidFill>
                  <a:srgbClr val="FFC757"/>
                </a:solidFill>
                <a:latin typeface="微软雅黑"/>
              </a:rPr>
              <a:t>第 3 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22976" y="4032504"/>
            <a:ext cx="1536192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建立 1 条低门槛反馈通道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2331720"/>
            <a:ext cx="713232" cy="713232"/>
          </a:xfrm>
          <a:prstGeom prst="ellipse">
            <a:avLst/>
          </a:prstGeom>
          <a:solidFill>
            <a:srgbClr val="FF8F82"/>
          </a:solidFill>
          <a:ln w="2540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18704" y="2587752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62672" y="3520440"/>
            <a:ext cx="1828800" cy="1133856"/>
          </a:xfrm>
          <a:prstGeom prst="roundRect">
            <a:avLst>
              <a:gd name="adj" fmla="val 16000"/>
            </a:avLst>
          </a:prstGeom>
          <a:solidFill>
            <a:srgbClr val="FFEEEA"/>
          </a:solidFill>
          <a:ln w="1905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08976" y="3685032"/>
            <a:ext cx="15361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 i="0">
                <a:solidFill>
                  <a:srgbClr val="FF8F82"/>
                </a:solidFill>
                <a:latin typeface="微软雅黑"/>
              </a:rPr>
              <a:t>第 4 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08976" y="4032504"/>
            <a:ext cx="1536192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复盘频率、稳定性和维护成本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5010912"/>
            <a:ext cx="900684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 i="0">
                <a:solidFill>
                  <a:srgbClr val="1F2D38"/>
                </a:solidFill>
                <a:latin typeface="微软雅黑"/>
              </a:rPr>
              <a:t>先做 1 个 Skill + 1 个 Hook + 1 条反馈通道，比先造 10 个命令更稳。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anchor="ctr"/>
          <a:lstStyle/>
          <a:p>
            <a:pPr algn="l"/>
            <a:r>
              <a:rPr sz="2000" b="1" i="0">
                <a:solidFill>
                  <a:srgbClr val="54585A"/>
                </a:solidFill>
                <a:latin typeface="微软雅黑"/>
              </a:rPr>
              <a:t>真正要带走的不是更多命令，而是更稳定的协作方式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pPr algn="l"/>
            <a:r>
              <a:rPr sz="1200" b="0" i="0">
                <a:solidFill>
                  <a:srgbClr val="54585A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12064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真正要带走的，不是更多命令，而是更稳定的协作方式。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4800600" cy="822960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905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6384" y="1527048"/>
            <a:ext cx="822960" cy="256032"/>
          </a:xfrm>
          <a:prstGeom prst="roundRect">
            <a:avLst>
              <a:gd name="adj" fmla="val 22000"/>
            </a:avLst>
          </a:prstGeom>
          <a:solidFill>
            <a:srgbClr val="005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1527048"/>
            <a:ext cx="76809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Takeaway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856232"/>
            <a:ext cx="45079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1" i="0">
                <a:solidFill>
                  <a:srgbClr val="005889"/>
                </a:solidFill>
                <a:latin typeface="微软雅黑"/>
              </a:rPr>
              <a:t>Skill 解决的是“怎样稳定地做一类事”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03704"/>
            <a:ext cx="45079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2514600"/>
            <a:ext cx="4800600" cy="822960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905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" y="2624328"/>
            <a:ext cx="822960" cy="256032"/>
          </a:xfrm>
          <a:prstGeom prst="roundRect">
            <a:avLst>
              <a:gd name="adj" fmla="val 22000"/>
            </a:avLst>
          </a:prstGeom>
          <a:solidFill>
            <a:srgbClr val="45B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2624328"/>
            <a:ext cx="76809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Takeaway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953512"/>
            <a:ext cx="45079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1" i="0">
                <a:solidFill>
                  <a:srgbClr val="45BA7D"/>
                </a:solidFill>
                <a:latin typeface="微软雅黑"/>
              </a:rPr>
              <a:t>先做高频、稳定、可验证的那一小批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300984"/>
            <a:ext cx="45079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640080" y="3611880"/>
            <a:ext cx="4800600" cy="822960"/>
          </a:xfrm>
          <a:prstGeom prst="roundRect">
            <a:avLst>
              <a:gd name="adj" fmla="val 16000"/>
            </a:avLst>
          </a:prstGeom>
          <a:solidFill>
            <a:srgbClr val="FFF6DB"/>
          </a:solidFill>
          <a:ln w="1905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6384" y="3721608"/>
            <a:ext cx="822960" cy="256032"/>
          </a:xfrm>
          <a:prstGeom prst="roundRect">
            <a:avLst>
              <a:gd name="adj" fmla="val 22000"/>
            </a:avLst>
          </a:prstGeom>
          <a:solidFill>
            <a:srgbClr val="FFC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" y="3721608"/>
            <a:ext cx="76809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Takeaway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050792"/>
            <a:ext cx="45079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1" i="0">
                <a:solidFill>
                  <a:srgbClr val="FFC757"/>
                </a:solidFill>
                <a:latin typeface="微软雅黑"/>
              </a:rPr>
              <a:t>先有 Skill 本体，再做宿主适配和组织共享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4398264"/>
            <a:ext cx="450799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5852160" y="1389888"/>
            <a:ext cx="4069080" cy="35844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4768" y="1664208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2400" b="1" i="0">
                <a:solidFill>
                  <a:srgbClr val="005889"/>
                </a:solidFill>
                <a:latin typeface="微软雅黑"/>
              </a:rPr>
              <a:t>Q&amp;A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2240280"/>
            <a:ext cx="3456432" cy="96926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700" b="1" i="0">
                <a:solidFill>
                  <a:srgbClr val="373545"/>
                </a:solidFill>
                <a:latin typeface="微软雅黑"/>
              </a:rPr>
              <a:t>你所在团队现在最值得先做成 Skill 的一件事是什么？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3566160"/>
            <a:ext cx="3200400" cy="8778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从高频任务找入口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从风险拦截找 Hook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从反馈通道开始迭代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p="http://schemas.openxmlformats.org/presentationml/2006/main">
  <p:tag name="ISLIDE.GUIDESSETTING" val="{&quot;Id&quot;:&quot;f4c94a84-10f5-45d4-8013-52860ca9d188&quot;,&quot;Name&quot;:null,&quot;Kind&quot;:&quot;Custom&quot;,&quot;OldGuidesSetting&quot;:{&quot;HeaderHeight&quot;:0.0,&quot;FooterHeight&quot;:0.0,&quot;SideMargin&quot;:0.0,&quot;TopMargin&quot;:0.0,&quot;BottomMargin&quot;:0.0,&quot;IntervalMargin&quot;:0.0}}"/>
</p:tagLst>
</file>

<file path=ppt/theme/theme1.xml><?xml version="1.0" encoding="utf-8"?>
<a:theme xmlns:a="http://schemas.openxmlformats.org/drawingml/2006/main" name="空白页">
  <a:themeElements>
    <a:clrScheme name="自定义 11">
      <a:dk1>
        <a:sysClr val="windowText" lastClr="000000"/>
      </a:dk1>
      <a:lt1>
        <a:sysClr val="window" lastClr="FFFFFF"/>
      </a:lt1>
      <a:dk2>
        <a:srgbClr val="373545"/>
      </a:dk2>
      <a:lt2>
        <a:srgbClr val="005BBB"/>
      </a:lt2>
      <a:accent1>
        <a:srgbClr val="005889"/>
      </a:accent1>
      <a:accent2>
        <a:srgbClr val="009AD8"/>
      </a:accent2>
      <a:accent3>
        <a:srgbClr val="45BA7D"/>
      </a:accent3>
      <a:accent4>
        <a:srgbClr val="FF8F82"/>
      </a:accent4>
      <a:accent5>
        <a:srgbClr val="FFC757"/>
      </a:accent5>
      <a:accent6>
        <a:srgbClr val="54585A"/>
      </a:accent6>
      <a:hlink>
        <a:srgbClr val="005BBB"/>
      </a:hlink>
      <a:folHlink>
        <a:srgbClr val="595959"/>
      </a:folHlink>
    </a:clrScheme>
    <a:fontScheme name="BOE内部字体标准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0</TotalTime>
  <Words>80</Words>
  <Application>WPS 演示</Application>
  <PresentationFormat>宽屏</PresentationFormat>
  <Paragraphs>14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Wingdings</vt:lpstr>
      <vt:lpstr>Arial Unicode MS</vt:lpstr>
      <vt:lpstr>等线</vt:lpstr>
      <vt:lpstr>空白页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BOE 工作型PPT模板【内部】</dc:title>
  <dc:creator>BOE</dc:creator>
  <cp:keywords>BOE</cp:keywords>
  <cp:lastModifiedBy>龙爽</cp:lastModifiedBy>
  <cp:revision>271</cp:revision>
  <dcterms:created xsi:type="dcterms:W3CDTF">2018-07-31T02:31:00Z</dcterms:created>
  <dcterms:modified xsi:type="dcterms:W3CDTF">2026-04-03T04:02:04Z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EA78D306F9264B4C9CB3E201A73C3C0F_12</vt:lpwstr>
  </property>
  <property fmtid="{D5CDD505-2E9C-101B-9397-08002B2CF9AE}" pid="3" name="KSOProductBuildVer">
    <vt:lpwstr>2052-12.1.0.25225</vt:lpwstr>
  </property>
</Properties>
</file>