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sign CIS" initials="D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A"/>
    <a:srgbClr val="3395D6"/>
    <a:srgbClr val="888888"/>
    <a:srgbClr val="1C5786"/>
    <a:srgbClr val="005BB9"/>
    <a:srgbClr val="3395D5"/>
    <a:srgbClr val="50B77D"/>
    <a:srgbClr val="E8E9E9"/>
    <a:srgbClr val="F8C55D"/>
    <a:srgbClr val="BFC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32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12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tags" Target="tags/tag1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9EBDF-13CD-4833-87AD-630D5D5ECD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5A620-777A-4D7E-B9A1-1AB5994BC0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30BD6-898A-4A5D-A948-A55451E287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62F6E-CEB4-45AE-979C-568CD40D3A3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87758"/>
            <a:ext cx="1219200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r>
              <a:rPr lang="en-US" altLang="zh-CN" dirty="0"/>
              <a:t>-</a:t>
            </a:r>
            <a:r>
              <a:rPr lang="zh-CN" altLang="en-US" dirty="0"/>
              <a:t>微软雅黑加粗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4351020" y="5783580"/>
            <a:ext cx="3489960" cy="32575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汇报组织</a:t>
            </a:r>
            <a:endParaRPr lang="zh-CN" altLang="en-US" dirty="0"/>
          </a:p>
        </p:txBody>
      </p:sp>
      <p:sp>
        <p:nvSpPr>
          <p:cNvPr id="4" name="文本占位符 9"/>
          <p:cNvSpPr>
            <a:spLocks noGrp="1"/>
          </p:cNvSpPr>
          <p:nvPr>
            <p:ph type="body" sz="quarter" idx="23" hasCustomPrompt="1"/>
          </p:nvPr>
        </p:nvSpPr>
        <p:spPr>
          <a:xfrm>
            <a:off x="4350385" y="6136640"/>
            <a:ext cx="3491230" cy="35941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1921329" y="0"/>
            <a:ext cx="8168523" cy="6858000"/>
          </a:xfrm>
          <a:prstGeom prst="rect">
            <a:avLst/>
          </a:prstGeom>
        </p:spPr>
        <p:txBody>
          <a:bodyPr anchor="ctr"/>
          <a:lstStyle>
            <a:lvl1pPr marL="514350" marR="0" indent="-5143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 sz="2800" b="1" spc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章节一</a:t>
            </a:r>
            <a:endParaRPr lang="zh-CN" altLang="en-US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章节二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章节三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章节四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章节五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章节六</a:t>
            </a:r>
            <a:endParaRPr lang="en-US" altLang="zh-CN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altLang="zh-CN" dirty="0"/>
              <a:t>CHAPTER </a:t>
            </a:r>
            <a:r>
              <a:rPr lang="zh-CN" altLang="en-US" dirty="0"/>
              <a:t>章节七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57" y="2517775"/>
            <a:ext cx="12192000" cy="132556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1.CHAPTER </a:t>
            </a:r>
            <a:r>
              <a:rPr lang="zh-CN" altLang="en-US" dirty="0"/>
              <a:t>章节一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29265" y="6526530"/>
            <a:ext cx="1098277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87350" y="75686"/>
            <a:ext cx="10782300" cy="71120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 spc="3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页面标题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endParaRPr lang="zh-CN" altLang="en-US" dirty="0"/>
          </a:p>
        </p:txBody>
      </p:sp>
      <p:sp>
        <p:nvSpPr>
          <p:cNvPr id="8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87350" y="936625"/>
            <a:ext cx="11365865" cy="306705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marL="0" indent="0" algn="l">
              <a:lnSpc>
                <a:spcPct val="100000"/>
              </a:lnSpc>
              <a:buFont typeface="Wingdings" panose="05000000000000000000" charset="0"/>
              <a:buChar char="Ø"/>
              <a:defRPr sz="14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</a:t>
            </a:r>
            <a:r>
              <a:rPr lang="en-US" altLang="zh-CN" dirty="0"/>
              <a:t>-</a:t>
            </a:r>
            <a:r>
              <a:rPr lang="zh-CN" altLang="en-US" dirty="0"/>
              <a:t>微软雅黑</a:t>
            </a:r>
            <a:r>
              <a:rPr lang="en-US" altLang="zh-CN" dirty="0"/>
              <a:t> </a:t>
            </a:r>
            <a:r>
              <a:rPr lang="zh-CN" altLang="en-US" dirty="0"/>
              <a:t>建议不小于</a:t>
            </a:r>
            <a:r>
              <a:rPr lang="en-US" altLang="zh-CN" dirty="0"/>
              <a:t>12</a:t>
            </a:r>
            <a:r>
              <a:rPr lang="zh-CN" altLang="en-US" dirty="0"/>
              <a:t>号字，行间距根据版面适当调整，建议</a:t>
            </a:r>
            <a:r>
              <a:rPr lang="en-US" altLang="zh-CN" dirty="0"/>
              <a:t>1.25-1.5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31805" y="6530340"/>
            <a:ext cx="1098276" cy="324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4442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image" Target="../media/image6.jpeg"/><Relationship Id="rId8" Type="http://schemas.openxmlformats.org/officeDocument/2006/relationships/image" Target="../media/image2.png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4723807" y="6613071"/>
            <a:ext cx="2743793" cy="244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B257A-D64C-4BDD-A000-19504D84BCCD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190605" y="6630670"/>
            <a:ext cx="732184" cy="21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 anchor="ctr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800" b="1">
                <a:solidFill>
                  <a:srgbClr val="373545"/>
                </a:solidFill>
                <a:latin typeface="微软雅黑"/>
              </a:rPr>
              <a:t>从 Prompt 到 Skill，把 AI 使用习惯升级为团队能力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 anchor="ctr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4585A"/>
                </a:solidFill>
                <a:latin typeface="微软雅黑"/>
              </a:rPr>
              <a:t>面向混合团队的 Skill 方法、案例与落地路径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 wrap="square" anchor="ctr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4585A"/>
                </a:solidFill>
                <a:latin typeface="微软雅黑"/>
              </a:rPr>
              <a:t>研发 / 产品 / 设计 / 管理者 · 2026年04月10日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373545"/>
                </a:solidFill>
                <a:latin typeface="微软雅黑"/>
              </a:rPr>
              <a:t>同一种流程要反复解释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373545"/>
                </a:solidFill>
                <a:latin typeface="微软雅黑"/>
              </a:rPr>
              <a:t>同一种任务每个人做法都不一样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373545"/>
                </a:solidFill>
                <a:latin typeface="微软雅黑"/>
              </a:rPr>
              <a:t>经验只存在于少数人的脑子里和聊天记录里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373545"/>
                </a:solidFill>
                <a:latin typeface="微软雅黑"/>
              </a:rPr>
              <a:t>本该自动守住的风险仍然靠人工提醒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373545"/>
                </a:solidFill>
                <a:latin typeface="微软雅黑"/>
              </a:rPr>
              <a:t>团队已经会“用 AI”，但还没把“高质量做法”变成稳定能力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24128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团队已经会用 AI，但高质量做法还停留在聊天记录里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5532120"/>
            <a:ext cx="11228832" cy="438912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Skill 要解决的不是“再写长一点的 prompt”，而是把高质量做法从个人经验层拉升为团队能力。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Skill 的本质，是把临场技巧升级为可复用工作流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一次性 Prompt 解决“这次怎么做”；Skill 解决“这类事以后都怎么稳定做”。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5074920"/>
            <a:ext cx="4389120" cy="420624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固定触发条件 · 固定步骤顺序 · 固定输出形状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Skill 不是更长的 Prompt，也不是另一套项目规则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Prompt 决定这次要什么；Rules 决定什么不能错；Skill 决定以后怎样稳定做。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520440" cy="329184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Prompt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围绕当前一次请求临时组织表达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关注的是这次会话的具体目标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会话结束后通常不会留下稳定入口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1325880"/>
            <a:ext cx="3520440" cy="329184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Skill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把一类主动任务封装成可复用流程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固定触发条件、步骤顺序与输出格式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任何人都能通过统一入口复用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5592" y="1325880"/>
            <a:ext cx="3520440" cy="329184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Rules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定义项目边界、优先级和禁区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对所有操作持续生效，而不是只约束一次任务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重点是“什么不能错”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Skill 不替代用户目标，也不替代项目规则；它负责的是“怎样稳定地做”。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Rule、Skill、Hook、Agent 各自解决不同层级的问题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如果用户要主动叫它进场，多半先想 Skill；如果这件事每次都该自动发生，多半先想 Hook。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257800" cy="160020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Rule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定义边界和约束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适合守住不可违反的项目规则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例：禁止越过审批、禁止改生产数据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25880"/>
            <a:ext cx="5257800" cy="160020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Skill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封装用户主动发起的高频工作流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适合修 bug、补测试、写发布说明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重点是复用稳定流程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5257800" cy="160020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Hook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在特定事件发生时自动执行守门逻辑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适合提交前检查、敏感动作拦截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重点是自动发生而不是人工提醒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154680"/>
            <a:ext cx="5257800" cy="160020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Agent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处理跨阶段、跨上下文、需要更强自主性的复杂任务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适合长链路推进、状态维护和阶段衔接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不要一上来就把所有问题都升级成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先别急着做 Agent。很多团队真正缺的，是 Skill 与 Hook 这一层的稳定性。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Skill 最适合承接高频、主动发起、需要固定输出的任务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共同特征：主动触发、流程相对稳定、输出有明确形状。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53312"/>
            <a:ext cx="5440680" cy="150876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工程类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修 bug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补测试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做 code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53312"/>
            <a:ext cx="5440680" cy="15087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文档类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写需求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整理日报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生成发布说明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5440680" cy="150876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分析类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竞品分析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问题排查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风险评估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063240"/>
            <a:ext cx="5440680" cy="150876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协作类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会议纪要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交接说明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验收总结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判断要点不是它属于哪个工具，而是这类任务的工作流形状是否已经比较稳定。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做 Skill 的收益，不只是提效，而是让经验变成团队资产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高质量做法不再只存在于少数人的聊天记录里，而是可以被复用、审视、迭代和继承。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1965960"/>
            <a:ext cx="3703320" cy="1051560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团队资产化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</a:rPr>
              <a:t>复用 + 稳定 + 传承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834640" cy="123444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复用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减少重复解释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把高频流程变成统一入口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417320"/>
            <a:ext cx="2834640" cy="123444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稳定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减少风格漂移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减少步骤遗漏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46120"/>
            <a:ext cx="2834640" cy="123444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协作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让不同角色站在同一条流程起跑线上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降低“只有某个人会做”的依赖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246120"/>
            <a:ext cx="2834640" cy="123444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治理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更容易挂接反馈、评估与维护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经验沉淀有了组织抓手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Skill 的核心收益不是多快，而是多稳、多可复用、多能传承。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不是所有流程都值得做成 Skill，先看频率、稳定性和可验证性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先判断是否值得沉淀，再决定怎么写。否则很容易堆出“看起来很多、其实没人用”的噪音资产。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468880" cy="384048"/>
          </a:xfrm>
          <a:prstGeom prst="roundRect">
            <a:avLst/>
          </a:prstGeom>
          <a:solidFill>
            <a:srgbClr val="45BA7D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值得做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80160"/>
            <a:ext cx="2468880" cy="384048"/>
          </a:xfrm>
          <a:prstGeom prst="roundRect">
            <a:avLst/>
          </a:prstGeom>
          <a:solidFill>
            <a:srgbClr val="FF8F82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暂不做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4983480" cy="8686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高频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是不是每周都会反复出现？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4983480" cy="86868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稳定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步骤和边界是不是相对稳定？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03320"/>
            <a:ext cx="4983480" cy="86868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可验证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结果是不是容易验收和复盘？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83080"/>
            <a:ext cx="4754880" cy="86868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反例 1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一次性任务也硬沉淀成 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743200"/>
            <a:ext cx="4754880" cy="86868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反例 2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边界不清、人人理解不同的流程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03320"/>
            <a:ext cx="4754880" cy="86868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反例 3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明明该自动执行的守门逻辑却做成 Skill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更稳的判断标准是：高频、稳定、可验证。三者缺任何一个，都不建议急着沉淀。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第一个 Skill 不要做大，先把触发条件和输出形状写对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第一个版本先求稳，不求全。比起堆背景说明，更重要的是让它知道什么时候该进场、最后要交付什么。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868680" cy="475488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45720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第一步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99032"/>
            <a:ext cx="3520440" cy="530352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54864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73545"/>
                </a:solidFill>
                <a:latin typeface="微软雅黑"/>
              </a:rPr>
              <a:t>写清什么时候该触发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868680" cy="475488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45720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第二步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176272"/>
            <a:ext cx="3520440" cy="530352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54864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73545"/>
                </a:solidFill>
                <a:latin typeface="微软雅黑"/>
              </a:rPr>
              <a:t>写清什么时候不该触发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868680" cy="475488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45720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第三步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953512"/>
            <a:ext cx="3520440" cy="530352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54864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73545"/>
                </a:solidFill>
                <a:latin typeface="微软雅黑"/>
              </a:rPr>
              <a:t>写清步骤顺序和输出格式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868680" cy="475488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36576" rIns="45720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第四步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730752"/>
            <a:ext cx="3520440" cy="530352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 bIns="54864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73545"/>
                </a:solidFill>
                <a:latin typeface="微软雅黑"/>
              </a:rPr>
              <a:t>写清限制条件，不让它越界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417320"/>
            <a:ext cx="5486400" cy="3611880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D6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09728" rIns="164592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5889"/>
                </a:solidFill>
                <a:latin typeface="微软雅黑"/>
              </a:rPr>
              <a:t>name: fix-bug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373545"/>
                </a:solidFill>
                <a:latin typeface="微软雅黑"/>
              </a:rPr>
              <a:t>description: 在用户描述 bug、报错、失败测试时使用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373545"/>
                </a:solidFill>
                <a:latin typeface="微软雅黑"/>
              </a:rPr>
              <a:t>1. 先复述现象、影响范围和复现条件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373545"/>
                </a:solidFill>
                <a:latin typeface="微软雅黑"/>
              </a:rPr>
              <a:t>2. 搜索相关代码、日志和最近改动，确认根因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373545"/>
                </a:solidFill>
                <a:latin typeface="微软雅黑"/>
              </a:rPr>
              <a:t>3. 只做最小修复，不顺手重构无关部分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373545"/>
                </a:solidFill>
                <a:latin typeface="微软雅黑"/>
              </a:rPr>
              <a:t>4. 补一个最贴近故障面的回归验证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1">
                <a:solidFill>
                  <a:srgbClr val="54585A"/>
                </a:solidFill>
                <a:latin typeface="微软雅黑"/>
              </a:rPr>
              <a:t>输出：根因 / 修改点 / 验证结果 / 剩余风险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第一个 Skill 的重点不是写得多，而是触发条件清楚、步骤稳定、输出可验收。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先有通用 Skill 本体，再做宿主适配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宿主入口只是适配层，不是 Skill 的唯一真实形态。先把能力本体写清楚，再决定它在不同宿主里怎么触发。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4519" y="1417320"/>
            <a:ext cx="8183879" cy="841248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91440" r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第一层：通用 Skill 本体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微软雅黑"/>
              </a:rPr>
              <a:t>&lt;skill-name&gt;/SKILL.md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2542032"/>
            <a:ext cx="7269480" cy="841248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91440" r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373545"/>
                </a:solidFill>
                <a:latin typeface="微软雅黑"/>
              </a:rPr>
              <a:t>第二层：按需补 scripts / references / assets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80" b="0">
                <a:solidFill>
                  <a:srgbClr val="54585A"/>
                </a:solidFill>
                <a:latin typeface="微软雅黑"/>
              </a:rPr>
              <a:t>把流程、材料、样例和工具链放在同一个能力包里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3675887"/>
            <a:ext cx="6355080" cy="93268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91440" r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373545"/>
                </a:solidFill>
                <a:latin typeface="微软雅黑"/>
              </a:rPr>
              <a:t>第三层：再映射到不同宿主入口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54585A"/>
                </a:solidFill>
                <a:latin typeface="微软雅黑"/>
              </a:rPr>
              <a:t>Claude: /skill-name   ·   Codex: $skill-name   ·   其他入口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212848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tIns="73152" rIns="109728" bIns="7315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3364992"/>
            <a:ext cx="4114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09728" tIns="73152" rIns="109728" bIns="73152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顺序一旦反过来，团队维护的就不是同一份能力定义，而是每个宿主各写一套。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真正反复出错的不是“不会写”，而是“写得不像这个项目”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用 docs-writing-style 这个内部案例，可以最直观地看到 Skill 为什么适合沉淀项目风格判断。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5349240" cy="324612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没有 Skill 时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模块页、示例页、导读页容易写成一种模板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只看局部段落就动手改，忽略整页教学节奏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输出能写中文，但不一定“像这个仓库”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49240" cy="324612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有 Skill 后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先读仓库规则，再判断页面类型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先看同类页面，再决定内容结构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最后才动手写，减少局部最优带来的整体失真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很多重复问题不是语言能力问题，而是项目风格与判断顺序没有被显式化。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Skill 不该只让研发会用，也要让非研发能受益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非研发不一定要会写 SKILL.md，但他们在真实工作中遇到的问题，必须能回流成 Skill 的迭代输入。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417320"/>
            <a:ext cx="9692640" cy="86868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消费结果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4585A"/>
                </a:solidFill>
                <a:latin typeface="微软雅黑"/>
              </a:rPr>
              <a:t>管理者、外部协作方：消费标准化结果，不一定直接操作 Skill。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606040"/>
            <a:ext cx="9692640" cy="86868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使用 Skill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4585A"/>
                </a:solidFill>
                <a:latin typeface="微软雅黑"/>
              </a:rPr>
              <a:t>产品经理、设计师、项目角色：通过熟悉入口调用 Skill，获得稳定输出。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794760"/>
            <a:ext cx="9692640" cy="8686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维护 Skill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4585A"/>
                </a:solidFill>
                <a:latin typeface="微软雅黑"/>
              </a:rPr>
              <a:t>研发、Tech Lead：负责规则收敛、流程更新、能力治理。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846320"/>
            <a:ext cx="3749039" cy="420624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 rIns="73152" bIns="36576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关键机制：建立低门槛反馈通道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5349240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一旦反馈能回写进 Skill，组织能力才真正开始从“少数人经验”变成“部门资产”。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先用现成能力，再决定哪些问题值得自建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官方 Skills 的价值不在于代替团队经验，而在于先把通用能力复用掉，把自建资源留给项目约束和专项流程。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57800" cy="141732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pdf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读取、拆分、合并与 OCR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优先解决 PDF 处理类通用任务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141732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docx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创建和编辑 Word 文档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适合正式文档与模板化输出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5257800" cy="141732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pptx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生成和编辑演示文稿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适合汇报、复盘、项目分享材料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08960"/>
            <a:ext cx="5257800" cy="141732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FF8F82"/>
                </a:solidFill>
                <a:latin typeface="微软雅黑"/>
              </a:rPr>
              <a:t>skill-creator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帮助团队从零创建和迭代 Skill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把经验沉淀流程本身也做成能力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先问“有没有现成能力”，再问“我们是否真的需要自建”。这能显著降低噪音资产。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gstack、superpowers、GSD 分别代表三种不同的进阶方向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三者不是谁更强，而是解决的问题不同。对团队更重要的是先判断自己当前真正缺哪一层结构。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3611880" cy="342900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gstack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更像角色化 Skill Pack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强调多视角、显式角色编排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适合借鉴“把不同入口拆清楚”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325880"/>
            <a:ext cx="3611880" cy="342900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45BA7D"/>
                </a:solidFill>
                <a:latin typeface="微软雅黑"/>
              </a:rPr>
              <a:t>superpowers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更像默认工程流水线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强调设计先行、计划驱动、验证闭环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适合借鉴“把流程纪律跑顺”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4152" y="1325880"/>
            <a:ext cx="3611880" cy="342900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rIns="128016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005889"/>
                </a:solidFill>
                <a:latin typeface="微软雅黑"/>
              </a:rPr>
              <a:t>GSD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更像上下文工程层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强调规格、状态、阶段结论的持续稳定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373545"/>
                </a:solidFill>
                <a:latin typeface="微软雅黑"/>
              </a:rPr>
              <a:t>适合借鉴“让长链路不漂移”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5285232"/>
            <a:ext cx="11228832" cy="43891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64008" rIns="109728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373545"/>
                </a:solidFill>
                <a:latin typeface="微软雅黑"/>
              </a:rPr>
              <a:t>先判断你缺的是角色视角、流程纪律，还是长期上下文稳定，再决定要借哪一层。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373545"/>
                </a:solidFill>
                <a:latin typeface="微软雅黑"/>
              </a:rPr>
              <a:t>团队 30 天落地，不要先铺满，而要先跑通最小闭环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" b="0">
                <a:solidFill>
                  <a:srgbClr val="373545"/>
                </a:solidFill>
                <a:latin typeface="微软雅黑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54585A"/>
                </a:solidFill>
                <a:latin typeface="微软雅黑"/>
              </a:rPr>
              <a:t>先做 1 个 Skill + 1 个 Hook + 1 条反馈通道，比一开始造 10 个命令更稳。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2423160" cy="2651760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109728" b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第 1 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54585A"/>
                </a:solidFill>
                <a:latin typeface="微软雅黑"/>
              </a:rPr>
              <a:t>选 1 个每周至少做两次的高频任务，写成第一个 Skill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783080"/>
            <a:ext cx="2423160" cy="26517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109728" b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第 2 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54585A"/>
                </a:solidFill>
                <a:latin typeface="微软雅黑"/>
              </a:rPr>
              <a:t>选 1 个真正能拦住风险的动作，做成 Hook 草稿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83080"/>
            <a:ext cx="2423160" cy="2651760"/>
          </a:xfrm>
          <a:prstGeom prst="roundRect">
            <a:avLst/>
          </a:prstGeom>
          <a:solidFill>
            <a:srgbClr val="FFF4DA"/>
          </a:solidFill>
          <a:ln w="15240">
            <a:solidFill>
              <a:srgbClr val="FFC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109728" b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第 3 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54585A"/>
                </a:solidFill>
                <a:latin typeface="微软雅黑"/>
              </a:rPr>
              <a:t>建立 1 条低门槛反馈通道，收集团队真实问题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783080"/>
            <a:ext cx="2423160" cy="2651760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109728" bIns="7315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73545"/>
                </a:solidFill>
                <a:latin typeface="微软雅黑"/>
              </a:rPr>
              <a:t>第 4 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20" b="0">
                <a:solidFill>
                  <a:srgbClr val="54585A"/>
                </a:solidFill>
                <a:latin typeface="微软雅黑"/>
              </a:rPr>
              <a:t>回看调用频率、输出稳定性和维护成本，决定保留或迭代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4663440"/>
            <a:ext cx="6583680" cy="475488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最小闭环：Skill 让高频流程稳定发生，Hook 让关键风险自动守住，反馈通道负责把经验持续沉淀回来。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502920" y="1901952"/>
            <a:ext cx="1056132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96012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09728" tIns="73152" rIns="109728" bIns="7315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373545"/>
                </a:solidFill>
                <a:latin typeface="微软雅黑"/>
              </a:rPr>
              <a:t>真正要带走的不是更多命令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54585A"/>
                </a:solidFill>
                <a:latin typeface="微软雅黑"/>
              </a:rPr>
              <a:t>而是更稳定的协作方式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286000"/>
            <a:ext cx="4800600" cy="841248"/>
          </a:xfrm>
          <a:prstGeom prst="roundRect">
            <a:avLst/>
          </a:prstGeom>
          <a:solidFill>
            <a:srgbClr val="E8F4FB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005889"/>
                </a:solidFill>
                <a:latin typeface="微软雅黑"/>
              </a:rPr>
              <a:t>Takeaway 1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373545"/>
                </a:solidFill>
                <a:latin typeface="微软雅黑"/>
              </a:rPr>
              <a:t>Skill 解决的是“怎样稳定地做一类事”。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273552"/>
            <a:ext cx="4800600" cy="84124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45B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45BA7D"/>
                </a:solidFill>
                <a:latin typeface="微软雅黑"/>
              </a:rPr>
              <a:t>Takeaway 2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373545"/>
                </a:solidFill>
                <a:latin typeface="微软雅黑"/>
              </a:rPr>
              <a:t>先做高频、稳定、可验证的那一小批。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261104"/>
            <a:ext cx="4800600" cy="987552"/>
          </a:xfrm>
          <a:prstGeom prst="roundRect">
            <a:avLst/>
          </a:prstGeom>
          <a:solidFill>
            <a:srgbClr val="FDEDEA"/>
          </a:solidFill>
          <a:ln w="15240">
            <a:solidFill>
              <a:srgbClr val="FF8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rIns="109728" bIns="73152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FF8F82"/>
                </a:solidFill>
                <a:latin typeface="微软雅黑"/>
              </a:rPr>
              <a:t>Takeaway 3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373545"/>
                </a:solidFill>
                <a:latin typeface="微软雅黑"/>
              </a:rPr>
              <a:t>先有 Skill 本体，再做宿主适配和组织共享。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4617720" cy="2148840"/>
          </a:xfrm>
          <a:prstGeom prst="roundRect">
            <a:avLst/>
          </a:prstGeom>
          <a:solidFill>
            <a:srgbClr val="005889"/>
          </a:solidFill>
          <a:ln w="15240">
            <a:solidFill>
              <a:srgbClr val="005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91440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</a:rPr>
              <a:t>Q&amp;A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微软雅黑"/>
              </a:rPr>
              <a:t>你所在团队现在最值得先做成 Skill 的一件事是什么？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572000"/>
            <a:ext cx="4251960" cy="384048"/>
          </a:xfrm>
          <a:prstGeom prst="roundRect">
            <a:avLst/>
          </a:prstGeom>
          <a:solidFill>
            <a:srgbClr val="009AD8"/>
          </a:solidFill>
          <a:ln w="15240">
            <a:solidFill>
              <a:srgbClr val="009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从更多 prompt，走向更稳定的团队能力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f4c94a84-10f5-45d4-8013-52860ca9d188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空白页">
  <a:themeElements>
    <a:clrScheme name="自定义 11">
      <a:dk1>
        <a:sysClr val="windowText" lastClr="000000"/>
      </a:dk1>
      <a:lt1>
        <a:sysClr val="window" lastClr="FFFFFF"/>
      </a:lt1>
      <a:dk2>
        <a:srgbClr val="373545"/>
      </a:dk2>
      <a:lt2>
        <a:srgbClr val="005BBB"/>
      </a:lt2>
      <a:accent1>
        <a:srgbClr val="005889"/>
      </a:accent1>
      <a:accent2>
        <a:srgbClr val="009AD8"/>
      </a:accent2>
      <a:accent3>
        <a:srgbClr val="45BA7D"/>
      </a:accent3>
      <a:accent4>
        <a:srgbClr val="FF8F82"/>
      </a:accent4>
      <a:accent5>
        <a:srgbClr val="FFC757"/>
      </a:accent5>
      <a:accent6>
        <a:srgbClr val="54585A"/>
      </a:accent6>
      <a:hlink>
        <a:srgbClr val="005BBB"/>
      </a:hlink>
      <a:folHlink>
        <a:srgbClr val="595959"/>
      </a:folHlink>
    </a:clrScheme>
    <a:fontScheme name="BOE内部字体标准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80</Words>
  <Application>WPS 演示</Application>
  <PresentationFormat>宽屏</PresentationFormat>
  <Paragraphs>14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空白页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Prompt 到 Skill，把 AI 使用习惯升级为团队能力</dc:title>
  <dc:creator>Codex</dc:creator>
  <cp:keywords>BOE</cp:keywords>
  <cp:lastModifiedBy>龙爽</cp:lastModifiedBy>
  <cp:revision>271</cp:revision>
  <dcterms:created xsi:type="dcterms:W3CDTF">2018-07-31T02:31:00Z</dcterms:created>
  <dcterms:modified xsi:type="dcterms:W3CDTF">2026-04-03T04:02:04Z</dcterms:modified>
  <dc:subject>BOEET 模板内部分享 PPT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EA78D306F9264B4C9CB3E201A73C3C0F_12</vt:lpwstr>
  </property>
  <property fmtid="{D5CDD505-2E9C-101B-9397-08002B2CF9AE}" pid="3" name="KSOProductBuildVer">
    <vt:lpwstr>2052-12.1.0.25225</vt:lpwstr>
  </property>
</Properties>
</file>