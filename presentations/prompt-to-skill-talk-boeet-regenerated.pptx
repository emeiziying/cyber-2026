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sign CIS" initials="D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A"/>
    <a:srgbClr val="3395D6"/>
    <a:srgbClr val="888888"/>
    <a:srgbClr val="1C5786"/>
    <a:srgbClr val="005BB9"/>
    <a:srgbClr val="3395D5"/>
    <a:srgbClr val="50B77D"/>
    <a:srgbClr val="E8E9E9"/>
    <a:srgbClr val="F8C55D"/>
    <a:srgbClr val="BFC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12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7.xml"/>
  <Relationship Id="rId4" Type="http://schemas.openxmlformats.org/officeDocument/2006/relationships/slide" Target="slides/slide6.xml"/>
  <Relationship Id="rId5" Type="http://schemas.openxmlformats.org/officeDocument/2006/relationships/slide" Target="slides/slide5.xml"/>
  <Relationship Id="rId6" Type="http://schemas.openxmlformats.org/officeDocument/2006/relationships/slide" Target="slides/slide4.xml"/>
  <Relationship Id="rId7" Type="http://schemas.openxmlformats.org/officeDocument/2006/relationships/slide" Target="slides/slide3.xml"/>
  <Relationship Id="rId8" Type="http://schemas.openxmlformats.org/officeDocument/2006/relationships/slide" Target="slides/slide2.xml"/>
  <Relationship Id="rId9" Type="http://schemas.openxmlformats.org/officeDocument/2006/relationships/slide" Target="slides/slide1.xml"/>
  <Relationship Id="rId10" Type="http://schemas.openxmlformats.org/officeDocument/2006/relationships/notesMaster" Target="notesMasters/notesMaster1.xml"/>
  <Relationship Id="rId11" Type="http://schemas.openxmlformats.org/officeDocument/2006/relationships/handoutMaster" Target="handoutMasters/handoutMaster1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  <Relationship Id="rId15" Type="http://schemas.openxmlformats.org/officeDocument/2006/relationships/commentAuthors" Target="commentAuthors.xml"/>
  <Relationship Id="rId16" Type="http://schemas.openxmlformats.org/officeDocument/2006/relationships/tags" Target="tags/tag1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<Relationship Id="rId19" Type="http://schemas.openxmlformats.org/officeDocument/2006/relationships/slide" Target="slides/slide10.xml"/>
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</Relationships>
</file>

<file path=ppt/handoutMasters/_rels/handoutMaster1.xml.rels><?xml version="1.0" encoding="utf-8"?><Relationships xmlns="http://schemas.openxmlformats.org/package/2006/relationships">
  <Relationship Id="rId1" Type="http://schemas.openxmlformats.org/officeDocument/2006/relationships/theme" Target="../theme/theme3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9EBDF-13CD-4833-87AD-630D5D5ECD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5A620-777A-4D7E-B9A1-1AB5994BC0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0BD6-898A-4A5D-A948-A55451E287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62F6E-CEB4-45AE-979C-568CD40D3A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这一页先做一件事：把今天的主题讲清楚。我们不是来盘点工具菜单，也不是来演示几个花哨命令，而是想回答一个更实际的问题：当团队已经开始稳定使用 AI 之后，怎样把零散的高质量做法，升级成别人也能复用、组织也能维护的能力。今天的关键词就是 Skill。它不是一个更长的 prompt，而是把重复、稳定、可验证的工作流沉淀下来，让它成为团队资产。接下来我会先讲为什么要做，再讲边界、方法、案例，最后落到团队怎么开始。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这一页要解决的问题是，为什么今天要专门聊 Skill。很多团队现在其实已经会用 AI 了，但新的低效也跟着出来了。比如同一种 bug 修复流程，每次都要重新交代一遍；同一种文档写作任务，不同人做出来的质量和结构差异很大；再比如某些风险动作明明应该自动阻止，最后还是靠人盯着提醒。表面看，这像是“提示词还不够完整”；本质上，它说明高质量做法还停留在个人经验层，没有变成可复用的组织能力。Skill 要解决的，就是这层断裂。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如果今天只记住一句话，我希望大家记住这一句：Skill 的本质，是把临场技巧升级成可复用的工作流入口。它和一次性 prompt 最大的区别，不是字数多少，而是它有没有稳定的触发条件、步骤顺序、输出格式和适用边界。临时 prompt 解决的是“一次怎么做”；Skill 解决的是“这类事以后都怎么稳定做”。这也是为什么 Skill 的价值不只在提效，它真正改变的是协作方式。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这一页是为了避免两个常见误区。第一个误区是把 Skill 理解成“更长的 prompt”；第二个误区是以为有了 Skill，就不需要项目规则。其实不是。Prompt 是为当前这次对话服务的，Skill 是把一类高频任务固定下来，Rules 则定义边界、优先级和禁区。更准确地说，Prompt 决定这次具体要什么，Rules 决定什么不能违反，Skill 决定这类事以后怎样稳定地做。三者是分工关系，不是替代关系。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这一页要解决的是边界问题。很多团队一开始会把所有能力升级冲动都指向 Agent，但其实大部分问题不需要这么重。Rules 管的是边界；Skill 管的是用户主动发起、但又反复出现的复杂任务；Hook 管的是某个事件一发生就该自动执行的守门逻辑；Agent 才是用来处理跨阶段、跨上下文、需要长期自主推进的复杂任务。一个简单判断是：如果用户要主动叫它进场，多半先想 Skill；如果这件事每次都该自动发生，多半先想 Hook；如果它已经超出单次流程，需要长期保持状态，再考虑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这一页要回答“Skill 到底能做什么”。更稳的看法不是按宿主菜单分类，而是按任务类型分类。只要一类任务同时满足三个条件，它就很适合做成 Skill：第一，用户会反复主动发起；第二，执行过程相对稳定；第三，输出结果有比较明确的形状。修 bug、补测试、写需求、做竞品分析、生成会议纪要都属于这类。换句话说，Skill 最适合承接那些你每周都会重复做、而且好坏标准已经比较清楚的工作。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如果把 Skill 只理解成“更快完成任务”，它的价值会被低估。它真正重要的地方是，让经验从个人习惯变成团队资产。高质量做法不再只存在于某几个人的聊天记录里，而是可以被复用、被审视、被迭代、被继承。对研发来说，它减少重复解释；对产品和设计来说，它让输出更稳定；对团队负责人来说，它让经验沉淀和治理有了抓手。所以 Skill 的核心收益不是多快，而是多稳、多可复用。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这一页很关键，因为很多团队一兴奋就会开始堆 Skill，最后出现“看起来很多、其实没人用”的噪音资产。更稳的判断标准是三个：高频、稳定、可验证。高频意味着确实值得沉淀；稳定意味着它不会每次都换一套玩法；可验证意味着你能判断这个 Skill 有没有真的帮上忙。反过来说，一次性任务、边界模糊的流程、本该自动执行的风险拦截，都不适合直接做成 Skill。这个判断先做对，后面的制作才不会跑偏。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这一页是“怎么开始”的核心。第一个 Skill 千万不要做大而全，先做一个最小可用版本。最重要的不是正文写多长，而是先把四件事写清楚：什么时候该触发，什么时候不该触发，执行时按什么顺序走，最后输出长什么样。上面这个 `fix-bug` 骨架就够做第一轮测试了。很多人会把时间花在堆背景说明上，但真正决定 Skill 是否稳定的，往往是触发条件和输出形状，而不是文字总量。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这一页要讲一个经常被忽略的方法论：先有通用 Skill 本体，再做宿主适配。也就是说，先把能力本身写清楚，再决定它在 Claude 里怎么触发，在 Codex 里怎么触发，在别的宿主里怎么接。这样做的好处是，团队维护的是同一份能力定义，而不是为每个工具各写一套。宿主入口只是适配层，不应该反过来定义 Skill 本体。这个顺序不对，后面一旦要迁移或共享，成本就会上来。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这一页用仓库里的 `docs-writing-style` 做内部主案例。它最有代表性的地方在于，问题根本不是“模型不会写中文”，而是“模型不知道这个项目怎样才算写得像自己”。如果没有这类 Skill，AI 很容易把模块页、示例页、导读页混成一种模板，或者只看局部段落就动手改，最后把原本的教学节奏弄乱。这个 Skill 做的事情，不是替作者思考内容，而是先把必须做的判断顺序固定下来：先读仓库规则，再分页面类型，再看同类页面，再开始写。这个案例非常适合拿来说明，为什么重复出现的结构判断值得沉淀成 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这一页解决的是组织层问题。很多团队一说 Skill，默认就把它当成研发内部资产，但如果只有研发能用和能改，那团队能力只升级了一半。更稳的分层是三层：有些人只消费标准化结果，比如管理者；有些人通过熟悉的入口直接使用 Skill，比如产品或设计；还有一层是负责维护 Skill 的研发和 Tech Lead。关键不是要求所有人都学会写 `SKILL.md`，而是要有一条低门槛反馈通道，让非研发在真实工作中发现的问题，也能回写成 Skill 的更新。这一步一旦建立，Skill 才真正开始从个人工具变成部门资产。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讲到这里，大家可能会有一个很现实的问题：是不是所有东西都要自己做？其实不是。官方 Skills 的价值就在这里，它提供了很多已经打磨过的现成能力，比如处理 PDF、Word、PPT，或者直接帮助团队创建和迭代新 Skill 的 `skill-creator`。这页要传达的判断很简单：先问有没有现成能力可以直接拿来用，再问哪些问题真的值得你们自己沉淀。自建 Skill 的价值在于项目约束、团队经验和专项流程；通用能力如果官方已经做得够好，优先复用通常更划算。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这一页的目标不是带大家去装三套系统，而是建立一个判断框架。`gstack` 代表的是角色化编排思路，它把不同视角做成不同入口；`superpowers` 代表的是流程闭环思路，它更关注设计、计划、实现、验证能否自动串起来；`GSD` 代表的是上下文稳定思路，它解决的是长链路任务里的规格漂移和状态失真。对团队来说，这三者最值得借鉴的不是命令数量，而是结构价值。先判断你现在缺的是角色视角、流程纪律，还是长期上下文稳定，再决定要借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这一页是全场最重要的落地页，因为如果最后只停在概念介绍，这场分享的价值会很有限。我建议团队的最小路径不是一上来铺很多 Skill，而是先跑通一个小闭环。第一周，挑一个每周至少做两次、边界也清楚的任务，做成第一个 Skill；第二周，再挑一个你们最不想靠人工记忆的风险动作，写成 Hook 草稿；第三周，建立一条反馈通道，让真实使用者可以提交问题；第四周，再一起复盘它有没有真的减少重复解释、有没有更稳定、维护成本是否能接受。这个节奏很小，但很稳。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最后一页，我希望大家带走三件事。第一，Skill 不是更长的 prompt，而是让一类工作稳定发生的入口。第二，不是所有流程都值得做成 Skill，先抓高频、稳定、可验证的那一小批。第三，真正有价值的 Skill，不是写出来就结束，而是能继续接反馈、能跨角色共享、能逐步长成团队能力。如果今天这场分享结束后，大家能开始讨论“我们团队现在最值得先做成 Skill 的一件事是什么”，那这场分享就已经达到目标了。下面我们进入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1.jpeg"/>
  <Relationship Id="rId3" Type="http://schemas.openxmlformats.org/officeDocument/2006/relationships/image" Target="../media/image2.png"/>
</Relationships>
</file>

<file path=ppt/slideLayouts/_rels/slideLayout2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3.jpeg"/>
  <Relationship Id="rId3" Type="http://schemas.openxmlformats.org/officeDocument/2006/relationships/image" Target="../media/image2.png"/>
</Relationships>
</file>

<file path=ppt/slideLayouts/_rels/slideLayout3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4.jpeg"/>
  <Relationship Id="rId3" Type="http://schemas.openxmlformats.org/officeDocument/2006/relationships/image" Target="../media/image5.png"/>
</Relationships>
</file>

<file path=ppt/slideLayouts/_rels/slideLayout4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6.jpeg"/>
  <Relationship Id="rId3" Type="http://schemas.openxmlformats.org/officeDocument/2006/relationships/image" Target="../media/image7.jpeg"/>
  <Relationship Id="rId4" Type="http://schemas.openxmlformats.org/officeDocument/2006/relationships/image" Target="../media/image2.png"/>
</Relationships>
</file>

<file path=ppt/slideLayouts/_rels/slideLayout6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8.jpeg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7758"/>
            <a:ext cx="1219200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微软雅黑加粗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4351020" y="5783580"/>
            <a:ext cx="3489960" cy="3257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汇报组织</a:t>
            </a:r>
            <a:endParaRPr lang="zh-CN" altLang="en-US" dirty="0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23" hasCustomPrompt="1"/>
          </p:nvPr>
        </p:nvSpPr>
        <p:spPr>
          <a:xfrm>
            <a:off x="4350385" y="6136640"/>
            <a:ext cx="3491230" cy="35941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921329" y="0"/>
            <a:ext cx="8168523" cy="6858000"/>
          </a:xfrm>
          <a:prstGeom prst="rect">
            <a:avLst/>
          </a:prstGeom>
        </p:spPr>
        <p:txBody>
          <a:bodyPr anchor="ctr"/>
          <a:lstStyle>
            <a:lvl1pPr marL="514350" marR="0" indent="-5143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 sz="28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章节一</a:t>
            </a:r>
            <a:endParaRPr lang="zh-CN" altLang="en-US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章节二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章节三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章节四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章节五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章节六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章节七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57" y="2517775"/>
            <a:ext cx="121920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 xml:space="preserve">1.CHAPTER </a:t>
            </a:r>
            <a:r>
              <a:rPr lang="zh-CN" altLang="en-US" dirty="0"/>
              <a:t>章节一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6526530"/>
            <a:ext cx="1098277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7568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endParaRPr lang="zh-CN" altLang="en-US" dirty="0"/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87350" y="936625"/>
            <a:ext cx="11365865" cy="306705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buFont typeface="Wingdings" panose="05000000000000000000" charset="0"/>
              <a:buChar char="Ø"/>
              <a:defRPr sz="14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r>
              <a:rPr lang="en-US" altLang="zh-CN" dirty="0"/>
              <a:t xml:space="preserve"> </a:t>
            </a:r>
            <a:r>
              <a:rPr lang="zh-CN" altLang="en-US" dirty="0"/>
              <a:t>建议不小于</a:t>
            </a:r>
            <a:r>
              <a:rPr lang="en-US" altLang="zh-CN" dirty="0"/>
              <a:t>12</a:t>
            </a:r>
            <a:r>
              <a:rPr lang="zh-CN" altLang="en-US" dirty="0"/>
              <a:t>号字，行间距根据版面适当调整，建议</a:t>
            </a:r>
            <a:r>
              <a:rPr lang="en-US" altLang="zh-CN" dirty="0"/>
              <a:t>1.25-1.5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4442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image" Target="../media/image6.jpeg"/>
  <Relationship Id="rId8" Type="http://schemas.openxmlformats.org/officeDocument/2006/relationships/image" Target="../media/image2.png"/>
  <Relationship Id="rId9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3807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190605" y="6630670"/>
            <a:ext cx="732184" cy="21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2.xml"/>
</Relationships>
</file>

<file path=ppt/slides/_rels/slide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3.xml"/>
</Relationships>
</file>

<file path=ppt/slides/_rels/slide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4.xml"/>
</Relationships>
</file>

<file path=ppt/slides/_rels/slide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5.xml"/>
</Relationships>
</file>

<file path=ppt/slides/_rels/slide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6.xml"/>
</Relationships>
</file>

<file path=ppt/slides/_rels/slide7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7.xml"/>
</Relationships>
</file>

<file path=ppt/slides/_rels/slide8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8.xml"/>
</Relationships>
</file>

<file path=ppt/slides/_rels/slide9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9.xml"/>
</Relationships>
</file>

<file path=ppt/slides/_rels/slide10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0.xml"/>
</Relationships>
</file>

<file path=ppt/slides/_rels/slide1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1.xml"/>
</Relationships>
</file>

<file path=ppt/slides/_rels/slide1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2.xml"/>
</Relationships>
</file>

<file path=ppt/slides/_rels/slide1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3.xml"/>
</Relationships>
</file>

<file path=ppt/slides/_rels/slide1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14.xml"/>
</Relationships>
</file>

<file path=ppt/slides/_rels/slide1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15.xml"/>
</Relationships>
</file>

<file path=ppt/slides/_rels/slide1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4572000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 i="0">
                <a:solidFill>
                  <a:srgbClr val="373545"/>
                </a:solidFill>
                <a:latin typeface="微软雅黑"/>
              </a:rPr>
              <a:t>从 Prompt 到 Skill，
把 AI 使用习惯升级为团队能力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0740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 i="0">
                <a:solidFill>
                  <a:srgbClr val="005889"/>
                </a:solidFill>
                <a:latin typeface="微软雅黑"/>
              </a:rPr>
              <a:t>面向混合团队的 Skill 方法、案例与落地路径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2803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 i="0">
                <a:solidFill>
                  <a:srgbClr val="54585A"/>
                </a:solidFill>
                <a:latin typeface="微软雅黑"/>
              </a:rPr>
              <a:t>研发 / 产品 / 设计 / 管理者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7024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10" name="Chevron 9"/>
          <p:cNvSpPr/>
          <p:nvPr/>
        </p:nvSpPr>
        <p:spPr>
          <a:xfrm>
            <a:off x="6894576" y="2148840"/>
            <a:ext cx="228600" cy="21945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68896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3" name="Chevron 12"/>
          <p:cNvSpPr/>
          <p:nvPr/>
        </p:nvSpPr>
        <p:spPr>
          <a:xfrm>
            <a:off x="8193024" y="2148840"/>
            <a:ext cx="228600" cy="21945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67344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Team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971800"/>
            <a:ext cx="4206240" cy="53035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真正值得做的，不是"更多 prompt"，而是"更稳定的工作流入口"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98678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 i="0">
                <a:solidFill>
                  <a:srgbClr val="009AD8"/>
                </a:solidFill>
                <a:latin typeface="微软雅黑"/>
              </a:rPr>
              <a:t>45–60 分钟内部分享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团队已经会用 AI，但高质量做法还停留在聊天记录里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团队已经会用 AI，但高质量做法仍停留在个人经验、聊天记录和人工兜底里。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38988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0817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005889"/>
                </a:solidFill>
                <a:latin typeface="微软雅黑"/>
              </a:rPr>
              <a:t>同一种流程要反复解释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26187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26664" y="138988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40817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45BA7D"/>
                </a:solidFill>
                <a:latin typeface="微软雅黑"/>
              </a:rPr>
              <a:t>同一种任务每个人做法都不一样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0779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303580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5409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34670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C757"/>
                </a:solidFill>
                <a:latin typeface="微软雅黑"/>
              </a:rPr>
              <a:t>经验只存在于少数人的脑子里和聊天记录里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90779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26664" y="303580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305409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34670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8F82"/>
                </a:solidFill>
                <a:latin typeface="微软雅黑"/>
              </a:rPr>
              <a:t>本该自动守住的风险仍然靠人工提醒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444752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160934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临时 prompt</a:t>
            </a:r>
          </a:p>
        </p:txBody>
      </p:sp>
      <p:sp>
        <p:nvSpPr>
          <p:cNvPr id="23" name="Chevron 22"/>
          <p:cNvSpPr/>
          <p:nvPr/>
        </p:nvSpPr>
        <p:spPr>
          <a:xfrm>
            <a:off x="7543800" y="2148840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60" y="2340864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4" y="250545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9AD8"/>
                </a:solidFill>
                <a:latin typeface="微软雅黑"/>
              </a:rPr>
              <a:t>临场解释</a:t>
            </a:r>
          </a:p>
        </p:txBody>
      </p:sp>
      <p:sp>
        <p:nvSpPr>
          <p:cNvPr id="26" name="Chevron 25"/>
          <p:cNvSpPr/>
          <p:nvPr/>
        </p:nvSpPr>
        <p:spPr>
          <a:xfrm>
            <a:off x="7543800" y="3044952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0" y="3236976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9864" y="340156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结果漂移</a:t>
            </a:r>
          </a:p>
        </p:txBody>
      </p:sp>
      <p:sp>
        <p:nvSpPr>
          <p:cNvPr id="29" name="Chevron 28"/>
          <p:cNvSpPr/>
          <p:nvPr/>
        </p:nvSpPr>
        <p:spPr>
          <a:xfrm>
            <a:off x="7543800" y="3941064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23560" y="4133087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4297679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人工兜底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5102352"/>
            <a:ext cx="4315968" cy="53035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团队已经会"用 AI"，但还没把"高质量做法"变成稳定能力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的本质，是把临场技巧升级为可复用工作流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一次性 Prompt 解决“这次怎么做”；Skill 解决“这类事以后都怎么稳定做”。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4297680" cy="32461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Before｜一次性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4005072" cy="2734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每次会话都从头解释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只有会写 prompt 的人能稳定做出来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53312"/>
            <a:ext cx="3749039" cy="32461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517904"/>
            <a:ext cx="345643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After｜可复用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865376"/>
            <a:ext cx="3456431" cy="2734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固定触发条件、固定步骤、固定输出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任何人都能通过统一入口复用</a:t>
            </a:r>
          </a:p>
        </p:txBody>
      </p:sp>
      <p:sp>
        <p:nvSpPr>
          <p:cNvPr id="11" name="Chevron 10"/>
          <p:cNvSpPr/>
          <p:nvPr/>
        </p:nvSpPr>
        <p:spPr>
          <a:xfrm>
            <a:off x="5230368" y="2542032"/>
            <a:ext cx="640080" cy="347472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4937760"/>
            <a:ext cx="903427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300" b="1" i="0">
                <a:solidFill>
                  <a:srgbClr val="373545"/>
                </a:solidFill>
                <a:latin typeface="微软雅黑"/>
              </a:rPr>
              <a:t>Skill 是带说明的主动工作流入口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不是更长的 Prompt，也不是另一套项目规则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Prompt 决定这次要什么，Skill 决定怎样稳定做，Rules 决定什么不能错。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围绕当前一次请求临时组织表达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8496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把一类主动任务封装成可复用流程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4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定义项目边界、优先级和禁区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084064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Skill 负责"怎样稳定做"，Rules 负责"什么不能错"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Rule、Skill、Hook、Agent 各自解决不同层级的问题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很多问题不必一上来就做 Agent；先判断它更像边界、主动流程、自动守门，还是长链路任务。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89888" y="5212080"/>
            <a:ext cx="8577072" cy="0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4480" y="1170432"/>
            <a:ext cx="0" cy="4242816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evron 5"/>
          <p:cNvSpPr/>
          <p:nvPr/>
        </p:nvSpPr>
        <p:spPr>
          <a:xfrm>
            <a:off x="9802368" y="5093208"/>
            <a:ext cx="256032" cy="201168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1444752" y="1051560"/>
            <a:ext cx="201168" cy="256032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5321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005889"/>
                </a:solidFill>
                <a:latin typeface="微软雅黑"/>
              </a:rPr>
              <a:t>主动触发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5321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45BA7D"/>
                </a:solidFill>
                <a:latin typeface="微软雅黑"/>
              </a:rPr>
              <a:t>自动触发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长链路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0118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局部任务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794760"/>
            <a:ext cx="2057400" cy="9601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395935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4306824"/>
            <a:ext cx="1764792" cy="448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定义边界和约束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2157984"/>
            <a:ext cx="2852928" cy="13533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32257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670048"/>
            <a:ext cx="2560320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封装用户主动发起的高频工作流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657600"/>
            <a:ext cx="2743200" cy="115214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822192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169664"/>
            <a:ext cx="2450592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在特定事件发生时自动执行守门逻辑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755648"/>
            <a:ext cx="3127248" cy="1536192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19202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8F82"/>
                </a:solidFill>
                <a:latin typeface="微软雅黑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2267712"/>
            <a:ext cx="2834640" cy="10241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处理跨阶段、跨上下文、需要更强自主性的复杂任务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5468112"/>
            <a:ext cx="7059168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先别急着做 Agent，很多问题停在 Skill 或 Hook 更稳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最适合承接高频、主动发起、需要固定输出的任务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最适合承接高频、主动发起、流程相对稳定、输出有明确形状的任务。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63040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工程类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修 bug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补测试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做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298448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5584" y="1463040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文档类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1810512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写需求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整理日报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生成发布说明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200400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364992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分析类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712464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竞品分析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问题排查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风险评估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200400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3364992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8F82"/>
                </a:solidFill>
                <a:latin typeface="微软雅黑"/>
              </a:rPr>
              <a:t>协作类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712464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会议纪要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交接说明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验收总结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84064"/>
            <a:ext cx="9052560" cy="4389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主动触发、流程相对稳定、输出有明确形状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做 Skill 的收益，不只是提效，而是让经验变成团队资产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的收益不只是提效，而是把个人经验、团队协作和治理抓手一起沉淀下来。</a:t>
            </a:r>
          </a:p>
        </p:txBody>
      </p:sp>
      <p:sp>
        <p:nvSpPr>
          <p:cNvPr id="5" name="Oval 4"/>
          <p:cNvSpPr/>
          <p:nvPr/>
        </p:nvSpPr>
        <p:spPr>
          <a:xfrm>
            <a:off x="4389120" y="2103120"/>
            <a:ext cx="1755648" cy="1755648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2272" y="2267712"/>
            <a:ext cx="160934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团队
资产化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572768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737360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005889"/>
                </a:solidFill>
                <a:latin typeface="微软雅黑"/>
              </a:rPr>
              <a:t>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084832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减少重复解释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572768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737360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45BA7D"/>
                </a:solidFill>
                <a:latin typeface="微软雅黑"/>
              </a:rPr>
              <a:t>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2084832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减少风格漂移和步骤遗漏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75887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840479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C757"/>
                </a:solidFill>
                <a:latin typeface="微软雅黑"/>
              </a:rPr>
              <a:t>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87951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让不同角色站在同一条流程起跑线上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675887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3840479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8F82"/>
                </a:solidFill>
                <a:latin typeface="微软雅黑"/>
              </a:rPr>
              <a:t>传承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4187951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把少数人的经验变成团队可继承能力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2322576"/>
            <a:ext cx="621792" cy="51206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144768" y="2322576"/>
            <a:ext cx="1243584" cy="51206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67328" y="3767328"/>
            <a:ext cx="621792" cy="62179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144768" y="3767328"/>
            <a:ext cx="1243584" cy="62179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65960" y="5138928"/>
            <a:ext cx="717804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更容易挂接反馈、评估和后续维护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不是所有流程都值得做成 Skill，先看频率、稳定性和可验证性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做 Skill 之前先看高频、稳定、可验证，避免把一次性任务和噪音流程硬沉淀成资产。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657600" cy="361188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179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值得做的三个判断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38528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20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是不是高频重复出现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34640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8163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步骤和边界是不是相对稳定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30752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58184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712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结果是不是容易验收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463040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55464" y="1591056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609344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1901952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8F82"/>
                </a:solidFill>
                <a:latin typeface="微软雅黑"/>
              </a:rPr>
              <a:t>一次性任务也硬沉淀成 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596896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55464" y="2724912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743200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035808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C757"/>
                </a:solidFill>
                <a:latin typeface="微软雅黑"/>
              </a:rPr>
              <a:t>边界不清、人人理解不同的流程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730752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55464" y="385876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87705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4169664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45BA7D"/>
                </a:solidFill>
                <a:latin typeface="微软雅黑"/>
              </a:rPr>
              <a:t>明明该自动执行的守门逻辑却做成 Skill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626864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先做判断，再做制作，能显著降低噪音资产。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第一个 Skill 不要做大，先把触发条件和输出形状写对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第一个 Skill 先把触发条件、边界、步骤顺序和输出格式写对，不求一步做大。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1133856"/>
            <a:ext cx="4956048" cy="4133087"/>
          </a:xfrm>
          <a:prstGeom prst="roundRect">
            <a:avLst>
              <a:gd name="adj" fmla="val 14000"/>
            </a:avLst>
          </a:prstGeom>
          <a:solidFill>
            <a:srgbClr val="373545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5331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9AD8"/>
                </a:solidFill>
                <a:latin typeface="微软雅黑"/>
              </a:rPr>
              <a:t>最小 Skill 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19072"/>
            <a:ext cx="4498848" cy="321868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name: fix-bug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description: 在用户描述 bug、报错、失败测试、异常回归时使用。先定位根因，再做最小修复，并补一个回归验证。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1. 先复述现象、影响范围和复现条件。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2. 搜索相关代码、日志和最近改动，确认根因。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3. 只做最小修复，不顺手重构无关部分。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4. 补一个最贴近故障面的验证。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5. 输出：根因、修改点、验证结果、剩余风险。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53312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07024" y="148132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49961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792224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写清什么时候该触发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249424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7024" y="237744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39572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688336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写清什么时候不该触发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145536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07024" y="3273552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291840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第三步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84448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写清步骤顺序和输出格式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041648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07024" y="4169664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187952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第四步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4480560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8F82"/>
                </a:solidFill>
                <a:latin typeface="微软雅黑"/>
              </a:rPr>
              <a:t>写清限制条件，不让它越界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5102352"/>
            <a:ext cx="4343400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第一个版本先求稳，不求全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先有通用 Skill 本体，再做宿主适配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先定义通用 Skill 本体，再补脚本和参考资料，最后映射到不同宿主入口。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078992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243584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第一层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591056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通用 Skill 本体，通常是 &lt;skill-name&gt;/SKILL.md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414015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578607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第二层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926079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按需补 scripts/、references/、assets/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749039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913631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第三层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4261103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再映射到 Claude、Codex 或其他宿主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010912"/>
            <a:ext cx="1664208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Claude：/skill-name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5010912"/>
            <a:ext cx="1664208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Codex：$skill-name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5010912"/>
            <a:ext cx="1874519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其他宿主：适配入口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真正反复出错的不是"不会写"，而是"写得不像这个项目"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很多反复出错的地方不是语言能力问题，而是项目风格判断没有被固定成流程。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4315968" cy="349300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没有 Skill 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01952"/>
            <a:ext cx="4023360" cy="29809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文档站内容页更新频繁，页面类型很多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AI 容易把模块页、示例页、导读页混成一种写法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89888"/>
            <a:ext cx="3886200" cy="349300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5624" y="1554480"/>
            <a:ext cx="3593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有 docs-writing-style 之后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901952"/>
            <a:ext cx="3593592" cy="29809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先读规则、先分页面类型、再决定写法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让"写得像这个仓库"从个人感觉变成可执行流程</a:t>
            </a:r>
          </a:p>
        </p:txBody>
      </p:sp>
      <p:sp>
        <p:nvSpPr>
          <p:cNvPr id="11" name="Chevron 10"/>
          <p:cNvSpPr/>
          <p:nvPr/>
        </p:nvSpPr>
        <p:spPr>
          <a:xfrm>
            <a:off x="5166360" y="2542032"/>
            <a:ext cx="530352" cy="31089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5010912"/>
            <a:ext cx="8942832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让"写得像这个仓库"从个人感觉变成可执行流程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不该只让研发会用，也要让非研发能受益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既要让不同角色能用，也要让真实使用中的经验能低门槛回流给维护者。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1316736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消费结果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管理者、外部协作方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3856" y="2487168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使用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99232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产品经理、设计师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3657600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2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维护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6966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研发、Tech Lead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176272"/>
            <a:ext cx="0" cy="310896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328416"/>
            <a:ext cx="0" cy="32918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13648" y="1755648"/>
            <a:ext cx="1517904" cy="2743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920240"/>
            <a:ext cx="12252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反馈
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267712"/>
            <a:ext cx="1225296" cy="223113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D38"/>
                </a:solidFill>
                <a:latin typeface="微软雅黑"/>
              </a:rPr>
              <a:t>反馈通道，让非研发经验也能沉淀回 Skill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D38"/>
                </a:solidFill>
                <a:latin typeface="微软雅黑"/>
              </a:rPr>
              <a:t>反馈通道，让非研发经验也能沉淀回 Skill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321040" y="3072384"/>
            <a:ext cx="292608" cy="0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先用现成能力，再决定哪些问题值得自建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先复用已经打磨好的现成能力，再把真正带有团队约束的部分做成自建 Skill。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处理 PDF 的读取、拆分、合并和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1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5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5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创建和编辑 Word 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4144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生成和编辑演示文稿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skill-creator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帮助团队从零创建和迭代 Skill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901184"/>
            <a:ext cx="8997696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先问"有没有现成能力"，再问"我们是否真的需要自建"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gstack、superpowers、GSD 分别代表三种不同的进阶方向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三套外部案例最值得借的是结构价值，不是命令数量：它们分别强调角色编排、流程闭环和上下文稳定。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角色编排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005889"/>
                </a:solidFill>
                <a:latin typeface="微软雅黑"/>
              </a:rPr>
              <a:t>gstack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更像角色化 Skill Pack，强调多视角显式编排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15384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流程闭环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45BA7D"/>
                </a:solidFill>
                <a:latin typeface="微软雅黑"/>
              </a:rPr>
              <a:t>superpowers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更像默认工程流水线，强调设计先行、计划驱动、验证闭环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6096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上下文稳定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FFC757"/>
                </a:solidFill>
                <a:latin typeface="微软雅黑"/>
              </a:rPr>
              <a:t>GSD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更像上下文工程层，强调规格、状态和阶段结论的持续稳定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10912"/>
            <a:ext cx="443484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三者不是谁更强，而是解决的问题不同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010912"/>
            <a:ext cx="406908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团队不要一上来就全套照搬，先借结构，再决定是否引入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团队 30 天落地，不要先铺满，而要先跑通最小闭环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 30 天落地最稳的做法，是先跑通一个最小闭环，而不是一开始堆很多 Skill。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218688"/>
            <a:ext cx="8869680" cy="0"/>
          </a:xfrm>
          <a:prstGeom prst="line">
            <a:avLst/>
          </a:prstGeom>
          <a:ln w="2540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87552" y="2331720"/>
            <a:ext cx="713232" cy="713232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个每周至少做两次的高频任务，写成第一个 Skill</a:t>
            </a:r>
          </a:p>
        </p:txBody>
      </p:sp>
      <p:sp>
        <p:nvSpPr>
          <p:cNvPr id="10" name="Oval 9"/>
          <p:cNvSpPr/>
          <p:nvPr/>
        </p:nvSpPr>
        <p:spPr>
          <a:xfrm>
            <a:off x="3255264" y="2331720"/>
            <a:ext cx="713232" cy="713232"/>
          </a:xfrm>
          <a:prstGeom prst="ellipse">
            <a:avLst/>
          </a:prstGeom>
          <a:solidFill>
            <a:srgbClr val="45BA7D"/>
          </a:solidFill>
          <a:ln w="2540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第 2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个真正能拦住风险的动作，做成 Hook 草稿</a:t>
            </a:r>
          </a:p>
        </p:txBody>
      </p:sp>
      <p:sp>
        <p:nvSpPr>
          <p:cNvPr id="15" name="Oval 14"/>
          <p:cNvSpPr/>
          <p:nvPr/>
        </p:nvSpPr>
        <p:spPr>
          <a:xfrm>
            <a:off x="5522976" y="2331720"/>
            <a:ext cx="713232" cy="713232"/>
          </a:xfrm>
          <a:prstGeom prst="ellipse">
            <a:avLst/>
          </a:prstGeom>
          <a:solidFill>
            <a:srgbClr val="FFC757"/>
          </a:solidFill>
          <a:ln w="2540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C757"/>
                </a:solidFill>
                <a:latin typeface="微软雅黑"/>
              </a:rPr>
              <a:t>第 3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建立 1 条低门槛反馈通道，收集团队真实问题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31720"/>
            <a:ext cx="713232" cy="713232"/>
          </a:xfrm>
          <a:prstGeom prst="ellipse">
            <a:avLst/>
          </a:prstGeom>
          <a:solidFill>
            <a:srgbClr val="FF8F82"/>
          </a:solidFill>
          <a:ln w="2540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4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第 4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回看调用频率、输出稳定性和维护成本，决定保留或迭代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10912"/>
            <a:ext cx="9144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先做 1 个 Skill + 1 个 Hook + 1 条反馈通道，比先造 10 个命令更稳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真正要带走的不是更多命令，而是更稳定的协作方式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真正要带走的，不是更多命令，而是更稳定的协作方式。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2646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55448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6537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Skill 解决的是"怎样稳定地做一类事"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2374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265176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6265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先做高频、稳定、可验证的那一小批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374904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5993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先有 Skill 本体，再做宿主适配和组织共享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408176"/>
            <a:ext cx="4069080" cy="36027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682496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400" b="1" i="0">
                <a:solidFill>
                  <a:srgbClr val="005889"/>
                </a:solidFill>
                <a:latin typeface="微软雅黑"/>
              </a:rPr>
              <a:t>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67712"/>
            <a:ext cx="3493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 i="0">
                <a:solidFill>
                  <a:srgbClr val="373545"/>
                </a:solidFill>
                <a:latin typeface="微软雅黑"/>
              </a:rPr>
              <a:t>你所在团队现在最值得先做成 Skill 的一件事是什么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84448"/>
            <a:ext cx="318211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从高频任务找入口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从风险拦截找 Hook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从反馈通道开始迭代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f4c94a84-10f5-45d4-8013-52860ca9d188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空白页">
  <a:themeElements>
    <a:clrScheme name="自定义 11">
      <a:dk1>
        <a:sysClr val="windowText" lastClr="000000"/>
      </a:dk1>
      <a:lt1>
        <a:sysClr val="window" lastClr="FFFFFF"/>
      </a:lt1>
      <a:dk2>
        <a:srgbClr val="373545"/>
      </a:dk2>
      <a:lt2>
        <a:srgbClr val="005BBB"/>
      </a:lt2>
      <a:accent1>
        <a:srgbClr val="005889"/>
      </a:accent1>
      <a:accent2>
        <a:srgbClr val="009AD8"/>
      </a:accent2>
      <a:accent3>
        <a:srgbClr val="45BA7D"/>
      </a:accent3>
      <a:accent4>
        <a:srgbClr val="FF8F82"/>
      </a:accent4>
      <a:accent5>
        <a:srgbClr val="FFC757"/>
      </a:accent5>
      <a:accent6>
        <a:srgbClr val="54585A"/>
      </a:accent6>
      <a:hlink>
        <a:srgbClr val="005BBB"/>
      </a:hlink>
      <a:folHlink>
        <a:srgbClr val="595959"/>
      </a:folHlink>
    </a:clrScheme>
    <a:fontScheme name="BOE内部字体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80</Words>
  <Application>WPS 演示</Application>
  <PresentationFormat>宽屏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空白页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 工作型PPT模板【内部】</dc:title>
  <dc:creator>BOE</dc:creator>
  <cp:keywords>BOE</cp:keywords>
  <cp:lastModifiedBy>龙爽</cp:lastModifiedBy>
  <cp:revision>271</cp:revision>
  <dcterms:created xsi:type="dcterms:W3CDTF">2018-07-31T02:31:00Z</dcterms:created>
  <dcterms:modified xsi:type="dcterms:W3CDTF">2026-04-03T04:02:04Z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EA78D306F9264B4C9CB3E201A73C3C0F_12</vt:lpwstr>
  </property>
  <property fmtid="{D5CDD505-2E9C-101B-9397-08002B2CF9AE}" pid="3" name="KSOProductBuildVer">
    <vt:lpwstr>2052-12.1.0.25225</vt:lpwstr>
  </property>
</Properties>
</file>