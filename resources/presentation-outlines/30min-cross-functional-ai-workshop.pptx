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046720" cy="7315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3000" b="1">
                <a:solidFill>
                  <a:srgbClr val="132334"/>
                </a:solidFill>
                <a:latin typeface="PingFang SC"/>
              </a:rPr>
              <a:t>AI 工作提效入门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869680" cy="457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000" b="0">
                <a:solidFill>
                  <a:srgbClr val="586470"/>
                </a:solidFill>
                <a:latin typeface="PingFang SC"/>
              </a:rPr>
              <a:t>产品、设计、研发都能立刻上手的方法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7772400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C65B42"/>
                </a:solidFill>
                <a:latin typeface="PingFang SC"/>
              </a:rPr>
              <a:t>30 分钟建立统一认知、统一方法、统一边界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46120"/>
            <a:ext cx="2788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4F8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F8055"/>
                </a:solidFill>
                <a:latin typeface="PingFang SC"/>
              </a:rPr>
              <a:t>AI 值得在哪些工作里用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246120"/>
            <a:ext cx="2788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316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16E70"/>
                </a:solidFill>
                <a:latin typeface="PingFang SC"/>
              </a:rPr>
              <a:t>不同角色各自怎么用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3246120"/>
            <a:ext cx="2788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65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65B42"/>
                </a:solidFill>
                <a:latin typeface="PingFang SC"/>
              </a:rPr>
              <a:t>部门内使用 AI 的边界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493776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适用听众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5120640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800" b="0">
                <a:solidFill>
                  <a:srgbClr val="132334"/>
                </a:solidFill>
                <a:latin typeface="PingFang SC"/>
              </a:rPr>
              <a:t>产品经理 / 设计师 / 研发 / 少量管理者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709160"/>
            <a:ext cx="411480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统一案例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983480"/>
            <a:ext cx="4389120" cy="6400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800" b="0">
                <a:solidFill>
                  <a:srgbClr val="132334"/>
                </a:solidFill>
                <a:latin typeface="PingFang SC"/>
              </a:rPr>
              <a:t>用户反馈：搜索功能不好用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2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为什么现在要学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2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过去：AI 更像个人效率工具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自己摸索，个人用个人的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重点是提速写初稿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信息仍然要手工在角色间传递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520440"/>
          </a:xfrm>
          <a:prstGeom prst="rect">
            <a:avLst/>
          </a:prstGeom>
          <a:solidFill>
            <a:srgbClr val="CA9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现在：AI 正在变成协作基础设施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更快整理上下文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更快形成可交接材料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更快推进产品、设计、研发协同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352044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923A27"/>
                </a:solidFill>
                <a:latin typeface="PingFang SC"/>
              </a:rPr>
              <a:t>结论：AI 改变的不是某一个岗位，而是整个部门处理信息和交接任务的方式。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3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AI 适合做什么，不适合直接放行什么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3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349240" cy="4297680"/>
          </a:xfrm>
          <a:prstGeom prst="roundRect">
            <a:avLst/>
          </a:prstGeom>
          <a:solidFill>
            <a:srgbClr val="F4FAF4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4F8055"/>
                </a:solidFill>
                <a:latin typeface="PingFang SC"/>
              </a:rPr>
              <a:t>适合交给 AI 的工作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整理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归纳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初稿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对比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清单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复盘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4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1417320"/>
            <a:ext cx="5349240" cy="4297680"/>
          </a:xfrm>
          <a:prstGeom prst="roundRect">
            <a:avLst/>
          </a:prstGeom>
          <a:solidFill>
            <a:srgbClr val="FCF2E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54337"/>
                </a:solidFill>
                <a:latin typeface="PingFang SC"/>
              </a:rPr>
              <a:t>不适合直接放行的工作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事实判断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业务拍板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敏感信息处理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最终设计决策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最终需求决策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最终代码决策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417320"/>
            <a:ext cx="73152" cy="4297680"/>
          </a:xfrm>
          <a:prstGeom prst="rect">
            <a:avLst/>
          </a:prstGeom>
          <a:solidFill>
            <a:srgbClr val="B54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54337"/>
                </a:solidFill>
                <a:latin typeface="PingFang SC"/>
              </a:rPr>
              <a:t>结论：AI 可以帮你准备，但不能替你承担责任。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4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所有角色都通用的 5 段式输入法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2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01 目标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你想得到什么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46888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164592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02 上下文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事情发生在什么场景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645920"/>
            <a:ext cx="73152" cy="246888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164592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03 约束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哪些边界不能碰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645920"/>
            <a:ext cx="73152" cy="2468880"/>
          </a:xfrm>
          <a:prstGeom prst="rect">
            <a:avLst/>
          </a:prstGeom>
          <a:solidFill>
            <a:srgbClr val="CA9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64592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04 输出格式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希望它怎么呈现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645920"/>
            <a:ext cx="73152" cy="2468880"/>
          </a:xfrm>
          <a:prstGeom prst="rect">
            <a:avLst/>
          </a:prstGeom>
          <a:solidFill>
            <a:srgbClr val="4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164592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05 参考样例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有没有现成材料可参考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645920"/>
            <a:ext cx="73152" cy="2468880"/>
          </a:xfrm>
          <a:prstGeom prst="rect">
            <a:avLst/>
          </a:prstGeom>
          <a:solidFill>
            <a:srgbClr val="92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4572000"/>
            <a:ext cx="10744200" cy="100584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32334"/>
                </a:solidFill>
                <a:latin typeface="PingFang SC"/>
              </a:rPr>
              <a:t>示例：请把最近两周的搜索相关用户反馈整理成 3 类问题，并给出优先级建议。不要直接给解决方案，只输出问题分类表。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923A27"/>
                </a:solidFill>
                <a:latin typeface="PingFang SC"/>
              </a:rPr>
              <a:t>结论：输入越完整，输出越稳定。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5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所有角色都通用的 4 步验收法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2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1. 有无依据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结论有没有来源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2286000"/>
          </a:xfrm>
          <a:prstGeom prst="rect">
            <a:avLst/>
          </a:prstGeom>
          <a:solidFill>
            <a:srgbClr val="CA9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79" y="182880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2. 边界完整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有没有漏掉限制条件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79" y="1828800"/>
            <a:ext cx="73152" cy="228600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3. 格式正确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是否真的符合要求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73152" cy="228600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89719" y="1828800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4. 需要复核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能不能直接放行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19" y="1828800"/>
            <a:ext cx="73152" cy="2286000"/>
          </a:xfrm>
          <a:prstGeom prst="rect">
            <a:avLst/>
          </a:prstGeom>
          <a:solidFill>
            <a:srgbClr val="4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33272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132334"/>
                </a:solidFill>
                <a:latin typeface="PingFang SC"/>
              </a:rPr>
              <a:t>案例追问：如果 AI 说“搜索不好用是因为排序问题”，要继续问：依据是什么？有没有用户原话或数据？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923A27"/>
                </a:solidFill>
                <a:latin typeface="PingFang SC"/>
              </a:rPr>
              <a:t>结论：不要只看它写得像不像，要看它能不能用、敢不敢用。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6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产品经理怎么用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3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需求澄清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把模糊想法整理成需求提纲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60020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63240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反馈归类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把工单和访谈归成问题类型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554480"/>
            <a:ext cx="73152" cy="160020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竞品框架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先出对比结构，再人工补事实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554480"/>
            <a:ext cx="73152" cy="160020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验收草稿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先列边界和失败场景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554480"/>
            <a:ext cx="73152" cy="160020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20240" y="3840480"/>
            <a:ext cx="4023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会议纪要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自动拆行动项和负责人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840480"/>
            <a:ext cx="73152" cy="160020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4846320" cy="1600200"/>
          </a:xfrm>
          <a:prstGeom prst="roundRect">
            <a:avLst/>
          </a:prstGeom>
          <a:solidFill>
            <a:srgbClr val="FAEFEB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统一案例带入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把“搜索不好用”的反馈整理成：查不到 / 查不准 / 筛选难理解 三类。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73152" cy="1600200"/>
          </a:xfrm>
          <a:prstGeom prst="rect">
            <a:avLst/>
          </a:prstGeom>
          <a:solidFill>
            <a:srgbClr val="92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923A27"/>
                </a:solidFill>
                <a:latin typeface="PingFang SC"/>
              </a:rPr>
              <a:t>结论：产品最适合让 AI 做结构化整理和边界补全，不适合把需求判断直接外包。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7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设计师怎么用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3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方向发散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快速列多个界面方向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60020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63240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文案草稿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空态、错误态、按钮文案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554480"/>
            <a:ext cx="73152" cy="160020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评审清单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一致性、可用性、信息层级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554480"/>
            <a:ext cx="73152" cy="160020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155448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交互说明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把页面说明写得更利于开发理解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554480"/>
            <a:ext cx="73152" cy="160020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20240" y="3840480"/>
            <a:ext cx="4023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系统命名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组件状态和命名结构草稿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840480"/>
            <a:ext cx="73152" cy="160020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4846320" cy="1600200"/>
          </a:xfrm>
          <a:prstGeom prst="roundRect">
            <a:avLst/>
          </a:prstGeom>
          <a:solidFill>
            <a:srgbClr val="ECF7F7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统一案例带入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检查搜索页是否缺少空结果、无权限、无筛选条件等状态说明。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73152" cy="160020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16E70"/>
                </a:solidFill>
                <a:latin typeface="PingFang SC"/>
              </a:rPr>
              <a:t>结论：设计最适合把 AI 当评审助手和表达加速器，而不是审美决策者。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8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研发怎么用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2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读代码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快速定位相关逻辑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1417320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补测试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为改动补回归测试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737360"/>
            <a:ext cx="73152" cy="1417320"/>
          </a:xfrm>
          <a:prstGeom prst="rect">
            <a:avLst/>
          </a:prstGeom>
          <a:solidFill>
            <a:srgbClr val="4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做 Review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提前发现边界遗漏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365760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批量重构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处理重复性修改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657600"/>
            <a:ext cx="73152" cy="1417320"/>
          </a:xfrm>
          <a:prstGeom prst="rect">
            <a:avLst/>
          </a:prstGeom>
          <a:solidFill>
            <a:srgbClr val="CA9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923A27"/>
                </a:solidFill>
                <a:latin typeface="PingFang SC"/>
              </a:rPr>
              <a:t>结论：研发的 AI 使用更深，但本质仍然是给上下文 + 做验证。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9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一个需求如何跨角色流转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4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574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65B42"/>
                </a:solidFill>
                <a:latin typeface="PingFang SC"/>
              </a:rPr>
              <a:t>产品</a:t>
            </a:r>
          </a:p>
          <a:p>
            <a:pPr algn="ctr"/>
            <a:r>
              <a:rPr sz="1400">
                <a:solidFill>
                  <a:srgbClr val="132334"/>
                </a:solidFill>
                <a:latin typeface="PingFang SC"/>
              </a:rPr>
              <a:t>整理反馈
归类问题
补充优先级</a:t>
            </a:r>
          </a:p>
        </p:txBody>
      </p:sp>
      <p:sp>
        <p:nvSpPr>
          <p:cNvPr id="7" name="Chevron 6"/>
          <p:cNvSpPr/>
          <p:nvPr/>
        </p:nvSpPr>
        <p:spPr>
          <a:xfrm>
            <a:off x="2834639" y="2788920"/>
            <a:ext cx="411480" cy="640080"/>
          </a:xfrm>
          <a:prstGeom prst="chevron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0574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316E70"/>
                </a:solidFill>
                <a:latin typeface="PingFang SC"/>
              </a:rPr>
              <a:t>设计</a:t>
            </a:r>
          </a:p>
          <a:p>
            <a:pPr algn="ctr"/>
            <a:r>
              <a:rPr sz="1400">
                <a:solidFill>
                  <a:srgbClr val="132334"/>
                </a:solidFill>
                <a:latin typeface="PingFang SC"/>
              </a:rPr>
              <a:t>补交互状态
整理说明
准备评审清单</a:t>
            </a:r>
          </a:p>
        </p:txBody>
      </p:sp>
      <p:sp>
        <p:nvSpPr>
          <p:cNvPr id="9" name="Chevron 8"/>
          <p:cNvSpPr/>
          <p:nvPr/>
        </p:nvSpPr>
        <p:spPr>
          <a:xfrm>
            <a:off x="5532120" y="2788920"/>
            <a:ext cx="411480" cy="640080"/>
          </a:xfrm>
          <a:prstGeom prst="chevron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0574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CA9133"/>
                </a:solidFill>
                <a:latin typeface="PingFang SC"/>
              </a:rPr>
              <a:t>研发</a:t>
            </a:r>
          </a:p>
          <a:p>
            <a:pPr algn="ctr"/>
            <a:r>
              <a:rPr sz="1400">
                <a:solidFill>
                  <a:srgbClr val="132334"/>
                </a:solidFill>
                <a:latin typeface="PingFang SC"/>
              </a:rPr>
              <a:t>定位逻辑
修改实现
补测试</a:t>
            </a:r>
          </a:p>
        </p:txBody>
      </p:sp>
      <p:sp>
        <p:nvSpPr>
          <p:cNvPr id="11" name="Chevron 10"/>
          <p:cNvSpPr/>
          <p:nvPr/>
        </p:nvSpPr>
        <p:spPr>
          <a:xfrm>
            <a:off x="8229600" y="2788920"/>
            <a:ext cx="411480" cy="640080"/>
          </a:xfrm>
          <a:prstGeom prst="chevron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0574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4F8055"/>
                </a:solidFill>
                <a:latin typeface="PingFang SC"/>
              </a:rPr>
              <a:t>验收</a:t>
            </a:r>
          </a:p>
          <a:p>
            <a:pPr algn="ctr"/>
            <a:r>
              <a:rPr sz="1400">
                <a:solidFill>
                  <a:srgbClr val="132334"/>
                </a:solidFill>
                <a:latin typeface="PingFang SC"/>
              </a:rPr>
              <a:t>统一用 4 步
检查是否可用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17320"/>
            <a:ext cx="402336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C65B42"/>
                </a:solidFill>
                <a:latin typeface="PingFang SC"/>
              </a:rPr>
              <a:t>统一案例：用户反馈“搜索功能不好用”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923A27"/>
                </a:solidFill>
                <a:latin typeface="PingFang SC"/>
              </a:rPr>
              <a:t>结论：AI 的最大价值不只是单点提效，而是减少角色之间重新解释一遍的成本。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10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部门内使用 AI 的红线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2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6583680" cy="4023360"/>
          </a:xfrm>
          <a:prstGeom prst="roundRect">
            <a:avLst/>
          </a:prstGeom>
          <a:solidFill>
            <a:srgbClr val="FCF2E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54337"/>
                </a:solidFill>
                <a:latin typeface="PingFang SC"/>
              </a:rPr>
              <a:t>这些情况默认不能直接放行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敏感数据直接输入公共工具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外部账号、客户信息、生产环境配置直接暴露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未经审阅的内容直接对外发布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带权限的自动化操作直接放行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32334"/>
                </a:solidFill>
                <a:latin typeface="PingFang SC"/>
              </a:rPr>
              <a:t>把 AI 的判断当作正式结论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73152" cy="4023360"/>
          </a:xfrm>
          <a:prstGeom prst="rect">
            <a:avLst/>
          </a:prstGeom>
          <a:solidFill>
            <a:srgbClr val="B54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建议做法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高风险事项默认人工确认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边界不清楚时，先按高风险处理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先问“能不能给 AI”，再问“能不能更快”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828800"/>
            <a:ext cx="73152" cy="2468880"/>
          </a:xfrm>
          <a:prstGeom prst="rect">
            <a:avLst/>
          </a:prstGeom>
          <a:solidFill>
            <a:srgbClr val="92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54337"/>
                </a:solidFill>
                <a:latin typeface="PingFang SC"/>
              </a:rPr>
              <a:t>结论：边界先于效率。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11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部门落地建议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2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731520" y="1920240"/>
            <a:ext cx="2514600" cy="1417320"/>
          </a:xfrm>
          <a:prstGeom prst="chevron">
            <a:avLst/>
          </a:prstGeom>
          <a:solidFill>
            <a:srgbClr val="CA9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1. 全员通识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PingFang SC"/>
              </a:rPr>
              <a:t>统一认知和边界</a:t>
            </a:r>
          </a:p>
        </p:txBody>
      </p:sp>
      <p:sp>
        <p:nvSpPr>
          <p:cNvPr id="7" name="Chevron 6"/>
          <p:cNvSpPr/>
          <p:nvPr/>
        </p:nvSpPr>
        <p:spPr>
          <a:xfrm>
            <a:off x="3108960" y="1920240"/>
            <a:ext cx="2514600" cy="1417320"/>
          </a:xfrm>
          <a:prstGeom prst="chevron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2. 角色试点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PingFang SC"/>
              </a:rPr>
              <a:t>各挑 1-2 个高频场景</a:t>
            </a:r>
          </a:p>
        </p:txBody>
      </p:sp>
      <p:sp>
        <p:nvSpPr>
          <p:cNvPr id="8" name="Chevron 7"/>
          <p:cNvSpPr/>
          <p:nvPr/>
        </p:nvSpPr>
        <p:spPr>
          <a:xfrm>
            <a:off x="5486400" y="1920240"/>
            <a:ext cx="2697480" cy="1417320"/>
          </a:xfrm>
          <a:prstGeom prst="chevron">
            <a:avLst/>
          </a:prstGeom>
          <a:solidFill>
            <a:srgbClr val="31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3. 统一模板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PingFang SC"/>
              </a:rPr>
              <a:t>沉淀输入、验收、复盘模板</a:t>
            </a:r>
          </a:p>
        </p:txBody>
      </p:sp>
      <p:sp>
        <p:nvSpPr>
          <p:cNvPr id="9" name="Chevron 8"/>
          <p:cNvSpPr/>
          <p:nvPr/>
        </p:nvSpPr>
        <p:spPr>
          <a:xfrm>
            <a:off x="8046720" y="1920240"/>
            <a:ext cx="2560320" cy="1417320"/>
          </a:xfrm>
          <a:prstGeom prst="chevron">
            <a:avLst/>
          </a:prstGeom>
          <a:solidFill>
            <a:srgbClr val="4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</a:rPr>
              <a:t>4. 周期复盘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PingFang SC"/>
              </a:rPr>
              <a:t>持续更新规范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69080"/>
            <a:ext cx="10149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可以先试点的低风险场景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会议纪要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用户反馈归类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设计说明整理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测试补充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069080"/>
            <a:ext cx="73152" cy="1097280"/>
          </a:xfrm>
          <a:prstGeom prst="rect">
            <a:avLst/>
          </a:prstGeom>
          <a:solidFill>
            <a:srgbClr val="4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5989320"/>
            <a:ext cx="10927080" cy="41148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F8055"/>
                </a:solidFill>
                <a:latin typeface="PingFang SC"/>
              </a:rPr>
              <a:t>结论：不要一开始追求全员全面铺开，先把高频低风险场景跑通。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C65B42"/>
                </a:solidFill>
                <a:latin typeface="PingFang SC"/>
              </a:rPr>
              <a:t>第 12 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7955279" cy="548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32334"/>
                </a:solidFill>
                <a:latin typeface="PingFang SC"/>
              </a:rPr>
              <a:t>总结与问答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47472"/>
            <a:ext cx="960120" cy="310896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334"/>
                </a:solidFill>
                <a:latin typeface="PingFang SC"/>
              </a:rPr>
              <a:t>2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27432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65B42"/>
                </a:solidFill>
                <a:latin typeface="PingFang SC"/>
              </a:rPr>
              <a:t>AI 最适合做：</a:t>
            </a:r>
            <a:r>
              <a:rPr sz="1800" b="1">
                <a:solidFill>
                  <a:srgbClr val="132334"/>
                </a:solidFill>
                <a:latin typeface="PingFang SC"/>
              </a:rPr>
              <a:t>准备工作 / 结构化工作 / 重复工作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316E70"/>
                </a:solidFill>
                <a:latin typeface="PingFang SC"/>
              </a:rPr>
              <a:t>最终判断仍归：</a:t>
            </a:r>
            <a:r>
              <a:rPr sz="1800" b="1">
                <a:solidFill>
                  <a:srgbClr val="132334"/>
                </a:solidFill>
                <a:latin typeface="PingFang SC"/>
              </a:rPr>
              <a:t>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10515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A9133"/>
                </a:solidFill>
                <a:latin typeface="PingFang SC"/>
              </a:rPr>
              <a:t>部门里最值得优化的：</a:t>
            </a:r>
            <a:r>
              <a:rPr sz="1800" b="1">
                <a:solidFill>
                  <a:srgbClr val="132334"/>
                </a:solidFill>
                <a:latin typeface="PingFang SC"/>
              </a:rPr>
              <a:t>是角色之间的交接方式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5212080"/>
            <a:ext cx="3108960" cy="822960"/>
          </a:xfrm>
          <a:prstGeom prst="roundRect">
            <a:avLst/>
          </a:prstGeom>
          <a:solidFill>
            <a:srgbClr val="F1ECE2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016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32334"/>
                </a:solidFill>
                <a:latin typeface="PingFang SC"/>
              </a:rPr>
              <a:t>Q&amp;A 引导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你最想先试哪个场景？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86470"/>
                </a:solidFill>
                <a:latin typeface="PingFang SC"/>
              </a:rPr>
              <a:t>你最担心的风险是什么？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5212080"/>
            <a:ext cx="73152" cy="822960"/>
          </a:xfrm>
          <a:prstGeom prst="rect">
            <a:avLst/>
          </a:prstGeom>
          <a:solidFill>
            <a:srgbClr val="923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32004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1000" b="0">
                <a:solidFill>
                  <a:srgbClr val="586470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